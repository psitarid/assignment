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737" r:id="rId2"/>
    <p:sldMasterId id="2147483749" r:id="rId3"/>
    <p:sldMasterId id="2147483761" r:id="rId4"/>
  </p:sldMasterIdLst>
  <p:notesMasterIdLst>
    <p:notesMasterId r:id="rId23"/>
  </p:notesMasterIdLst>
  <p:sldIdLst>
    <p:sldId id="256" r:id="rId5"/>
    <p:sldId id="323" r:id="rId6"/>
    <p:sldId id="339" r:id="rId7"/>
    <p:sldId id="293" r:id="rId8"/>
    <p:sldId id="258" r:id="rId9"/>
    <p:sldId id="257" r:id="rId10"/>
    <p:sldId id="326" r:id="rId11"/>
    <p:sldId id="301" r:id="rId12"/>
    <p:sldId id="260" r:id="rId13"/>
    <p:sldId id="327" r:id="rId14"/>
    <p:sldId id="261" r:id="rId15"/>
    <p:sldId id="286" r:id="rId16"/>
    <p:sldId id="337" r:id="rId17"/>
    <p:sldId id="310" r:id="rId18"/>
    <p:sldId id="338" r:id="rId19"/>
    <p:sldId id="333" r:id="rId20"/>
    <p:sldId id="334" r:id="rId21"/>
    <p:sldId id="335" r:id="rId22"/>
  </p:sldIdLst>
  <p:sldSz cx="9144000" cy="5143500" type="screen16x9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sos Kontogiannis" initials="TK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DD26"/>
    <a:srgbClr val="F9F9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Μεσαίο στυλ 2 - Έμφαση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Μεσαίο στυλ 2 - Έμφαση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Μεσαίο στυλ 3 - Έμφαση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Μεσαίο στυλ 4 - Έμφαση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Μεσαίο στυλ 4 - Έμφαση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Μεσαίο στυλ 4 - Έμφαση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8A107856-5554-42FB-B03E-39F5DBC370BA}" styleName="Μεσαίο στυλ 4 - Έμφαση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Μεσαίο στυλ 4 - Έμφαση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Μεσαίο στυλ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Μεσαίο στυλ 4 - Έμφαση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AF606853-7671-496A-8E4F-DF71F8EC918B}" styleName="Σκούρο στυλ 1 - Έμφαση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l-GR" sz="1400" b="0" strike="noStrike" spc="-1">
                <a:solidFill>
                  <a:srgbClr val="000000"/>
                </a:solidFill>
                <a:latin typeface="Arial"/>
              </a:rPr>
              <a:t>Πατήστε για μετακίνηση της διαφάνειας</a:t>
            </a:r>
          </a:p>
        </p:txBody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l-GR" sz="2000" b="0" strike="noStrike" spc="-1">
                <a:latin typeface="Arial"/>
              </a:rPr>
              <a:t>Πατήστε για επεξεργασία της μορφής των σημειώσεων</a:t>
            </a:r>
          </a:p>
        </p:txBody>
      </p:sp>
      <p:sp>
        <p:nvSpPr>
          <p:cNvPr id="20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l-GR" sz="1400" b="0" strike="noStrike" spc="-1">
                <a:latin typeface="Times New Roman"/>
              </a:rPr>
              <a:t>&lt;κεφαλίδα&gt;</a:t>
            </a:r>
          </a:p>
        </p:txBody>
      </p:sp>
      <p:sp>
        <p:nvSpPr>
          <p:cNvPr id="202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l-GR" sz="1400" b="0" strike="noStrike" spc="-1">
                <a:latin typeface="Times New Roman"/>
              </a:rPr>
              <a:t>&lt;ημερομηνία/ώρα&gt;</a:t>
            </a:r>
          </a:p>
        </p:txBody>
      </p:sp>
      <p:sp>
        <p:nvSpPr>
          <p:cNvPr id="203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l-GR" sz="1400" b="0" strike="noStrike" spc="-1">
                <a:latin typeface="Times New Roman"/>
              </a:rPr>
              <a:t>&lt;υποσέλιδο&gt;</a:t>
            </a:r>
          </a:p>
        </p:txBody>
      </p:sp>
      <p:sp>
        <p:nvSpPr>
          <p:cNvPr id="204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C1618298-9207-4F2E-B9D7-4728C5838BC8}" type="slidenum">
              <a:rPr lang="el-GR" sz="1400" b="0" strike="noStrike" spc="-1">
                <a:latin typeface="Times New Roman"/>
              </a:rPr>
              <a:pPr algn="r"/>
              <a:t>‹#›</a:t>
            </a:fld>
            <a:endParaRPr lang="el-GR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Quad Small Form-factor Pluggable (QSFP) is a compact, hot-pluggable transceiver used for data communications applications</a:t>
            </a:r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1C5CE-222C-4659-9A99-B99FC42AF6EC}" type="slidenum">
              <a:rPr lang="el-GR" noProof="0" smtClean="0"/>
              <a:pPr/>
              <a:t>2</a:t>
            </a:fld>
            <a:endParaRPr lang="el-GR" noProof="0"/>
          </a:p>
        </p:txBody>
      </p:sp>
    </p:spTree>
    <p:extLst>
      <p:ext uri="{BB962C8B-B14F-4D97-AF65-F5344CB8AC3E}">
        <p14:creationId xmlns:p14="http://schemas.microsoft.com/office/powerpoint/2010/main" val="1428049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PAM4 is considered to be a cost-effective and efficient alternative solution for 100G and 400G construction. For 100G transceiver modules, single-wavelength PAM4 technology reduces the number of lasers to one and eliminates the need for optical multiplexing</a:t>
            </a:r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1C5CE-222C-4659-9A99-B99FC42AF6EC}" type="slidenum">
              <a:rPr lang="el-GR" noProof="0" smtClean="0"/>
              <a:pPr/>
              <a:t>7</a:t>
            </a:fld>
            <a:endParaRPr lang="el-GR" noProof="0"/>
          </a:p>
        </p:txBody>
      </p:sp>
    </p:spTree>
    <p:extLst>
      <p:ext uri="{BB962C8B-B14F-4D97-AF65-F5344CB8AC3E}">
        <p14:creationId xmlns:p14="http://schemas.microsoft.com/office/powerpoint/2010/main" val="1390349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Θέση εικόνας διαφάνειας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- Θέση σημειώσεων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3 - Θέση αριθμού διαφάνειας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algn="r"/>
            <a:fld id="{C1618298-9207-4F2E-B9D7-4728C5838BC8}" type="slidenum">
              <a:rPr lang="el-GR" sz="1400" b="0" strike="noStrike" spc="-1" smtClean="0">
                <a:latin typeface="Times New Roman"/>
              </a:rPr>
              <a:pPr algn="r"/>
              <a:t>8</a:t>
            </a:fld>
            <a:endParaRPr lang="el-GR" sz="1400" b="0" strike="noStrike" spc="-1"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1C5CE-222C-4659-9A99-B99FC42AF6EC}" type="slidenum">
              <a:rPr lang="el-GR" noProof="0" smtClean="0"/>
              <a:pPr/>
              <a:t>13</a:t>
            </a:fld>
            <a:endParaRPr lang="el-GR" noProof="0"/>
          </a:p>
        </p:txBody>
      </p:sp>
    </p:spTree>
    <p:extLst>
      <p:ext uri="{BB962C8B-B14F-4D97-AF65-F5344CB8AC3E}">
        <p14:creationId xmlns:p14="http://schemas.microsoft.com/office/powerpoint/2010/main" val="192280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1C5CE-222C-4659-9A99-B99FC42AF6EC}" type="slidenum">
              <a:rPr lang="el-GR" noProof="0" smtClean="0"/>
              <a:pPr/>
              <a:t>14</a:t>
            </a:fld>
            <a:endParaRPr lang="el-GR" noProof="0"/>
          </a:p>
        </p:txBody>
      </p:sp>
    </p:spTree>
    <p:extLst>
      <p:ext uri="{BB962C8B-B14F-4D97-AF65-F5344CB8AC3E}">
        <p14:creationId xmlns:p14="http://schemas.microsoft.com/office/powerpoint/2010/main" val="1922806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1C5CE-222C-4659-9A99-B99FC42AF6EC}" type="slidenum">
              <a:rPr lang="el-GR" noProof="0" smtClean="0"/>
              <a:pPr/>
              <a:t>16</a:t>
            </a:fld>
            <a:endParaRPr lang="el-GR" noProof="0"/>
          </a:p>
        </p:txBody>
      </p:sp>
    </p:spTree>
    <p:extLst>
      <p:ext uri="{BB962C8B-B14F-4D97-AF65-F5344CB8AC3E}">
        <p14:creationId xmlns:p14="http://schemas.microsoft.com/office/powerpoint/2010/main" val="192280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1C5CE-222C-4659-9A99-B99FC42AF6EC}" type="slidenum">
              <a:rPr lang="el-GR" noProof="0" smtClean="0"/>
              <a:pPr/>
              <a:t>17</a:t>
            </a:fld>
            <a:endParaRPr lang="el-GR" noProof="0"/>
          </a:p>
        </p:txBody>
      </p:sp>
    </p:spTree>
    <p:extLst>
      <p:ext uri="{BB962C8B-B14F-4D97-AF65-F5344CB8AC3E}">
        <p14:creationId xmlns:p14="http://schemas.microsoft.com/office/powerpoint/2010/main" val="1922806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F1C5CE-222C-4659-9A99-B99FC42AF6EC}" type="slidenum">
              <a:rPr lang="el-GR" noProof="0" smtClean="0"/>
              <a:pPr/>
              <a:t>18</a:t>
            </a:fld>
            <a:endParaRPr lang="el-GR" noProof="0"/>
          </a:p>
        </p:txBody>
      </p:sp>
    </p:spTree>
    <p:extLst>
      <p:ext uri="{BB962C8B-B14F-4D97-AF65-F5344CB8AC3E}">
        <p14:creationId xmlns:p14="http://schemas.microsoft.com/office/powerpoint/2010/main" val="192280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10480" y="2057400"/>
            <a:ext cx="8122680" cy="778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l-G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10480" y="2057400"/>
            <a:ext cx="8122680" cy="778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10480" y="2057400"/>
            <a:ext cx="8122680" cy="778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10480" y="2057400"/>
            <a:ext cx="8122680" cy="778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510480" y="2057400"/>
            <a:ext cx="8122680" cy="3609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l-G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10480" y="2057400"/>
            <a:ext cx="8122680" cy="778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10480" y="2057400"/>
            <a:ext cx="8122680" cy="778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10480" y="2057400"/>
            <a:ext cx="8122680" cy="778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10480" y="2057400"/>
            <a:ext cx="8122680" cy="778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10480" y="2057400"/>
            <a:ext cx="8122680" cy="778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10480" y="2057400"/>
            <a:ext cx="8122680" cy="7783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22 - Ορθογώνιο"/>
          <p:cNvSpPr/>
          <p:nvPr/>
        </p:nvSpPr>
        <p:spPr>
          <a:xfrm flipV="1">
            <a:off x="5410189" y="2857504"/>
            <a:ext cx="3733819" cy="6831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23 - Ορθογώνιο"/>
          <p:cNvSpPr/>
          <p:nvPr/>
        </p:nvSpPr>
        <p:spPr>
          <a:xfrm flipV="1">
            <a:off x="5410207" y="2922758"/>
            <a:ext cx="3733801" cy="144018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24 - Ορθογώνιο"/>
          <p:cNvSpPr/>
          <p:nvPr/>
        </p:nvSpPr>
        <p:spPr>
          <a:xfrm flipV="1">
            <a:off x="5410207" y="3086375"/>
            <a:ext cx="3733801" cy="6858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25 - Ορθογώνιο"/>
          <p:cNvSpPr/>
          <p:nvPr/>
        </p:nvSpPr>
        <p:spPr>
          <a:xfrm flipV="1">
            <a:off x="5410200" y="3123302"/>
            <a:ext cx="1965960" cy="13716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26 - Ορθογώνιο"/>
          <p:cNvSpPr/>
          <p:nvPr/>
        </p:nvSpPr>
        <p:spPr>
          <a:xfrm flipV="1">
            <a:off x="5410200" y="3149679"/>
            <a:ext cx="1965960" cy="6858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29 - Στρογγυλεμένο ορθογώνιο"/>
          <p:cNvSpPr/>
          <p:nvPr/>
        </p:nvSpPr>
        <p:spPr bwMode="white">
          <a:xfrm>
            <a:off x="5410200" y="2971800"/>
            <a:ext cx="3063240" cy="20574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30 - Στρογγυλεμένο ορθογώνιο"/>
          <p:cNvSpPr/>
          <p:nvPr/>
        </p:nvSpPr>
        <p:spPr bwMode="white">
          <a:xfrm>
            <a:off x="7376507" y="3045737"/>
            <a:ext cx="160020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- Ορθογώνιο"/>
          <p:cNvSpPr/>
          <p:nvPr/>
        </p:nvSpPr>
        <p:spPr>
          <a:xfrm>
            <a:off x="1" y="2737246"/>
            <a:ext cx="9144000" cy="183128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- Ορθογώνιο"/>
          <p:cNvSpPr/>
          <p:nvPr/>
        </p:nvSpPr>
        <p:spPr>
          <a:xfrm>
            <a:off x="1" y="2756646"/>
            <a:ext cx="9144001" cy="10550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- Ορθογώνιο"/>
          <p:cNvSpPr/>
          <p:nvPr/>
        </p:nvSpPr>
        <p:spPr>
          <a:xfrm flipV="1">
            <a:off x="6414051" y="2732318"/>
            <a:ext cx="2729950" cy="1863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- Ορθογώνιο"/>
          <p:cNvSpPr/>
          <p:nvPr/>
        </p:nvSpPr>
        <p:spPr>
          <a:xfrm>
            <a:off x="0" y="1"/>
            <a:ext cx="9144000" cy="2776275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- Τίτλος"/>
          <p:cNvSpPr>
            <a:spLocks noGrp="1"/>
          </p:cNvSpPr>
          <p:nvPr>
            <p:ph type="ctrTitle"/>
          </p:nvPr>
        </p:nvSpPr>
        <p:spPr>
          <a:xfrm>
            <a:off x="457200" y="1801419"/>
            <a:ext cx="8458200" cy="1102519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9" name="8 - Υπότιτλος"/>
          <p:cNvSpPr>
            <a:spLocks noGrp="1"/>
          </p:cNvSpPr>
          <p:nvPr>
            <p:ph type="subTitle" idx="1"/>
          </p:nvPr>
        </p:nvSpPr>
        <p:spPr>
          <a:xfrm>
            <a:off x="457200" y="2924953"/>
            <a:ext cx="4953000" cy="131445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l-GR"/>
              <a:t>Κάντε κλικ για να επεξεργαστείτε τον υπότιτλο του υποδείγματος</a:t>
            </a:r>
            <a:endParaRPr kumimoji="0" lang="en-US"/>
          </a:p>
        </p:txBody>
      </p:sp>
      <p:sp>
        <p:nvSpPr>
          <p:cNvPr id="28" name="27 - Θέση ημερομηνίας"/>
          <p:cNvSpPr>
            <a:spLocks noGrp="1"/>
          </p:cNvSpPr>
          <p:nvPr>
            <p:ph type="dt" sz="half" idx="10"/>
          </p:nvPr>
        </p:nvSpPr>
        <p:spPr>
          <a:xfrm>
            <a:off x="6705600" y="3154680"/>
            <a:ext cx="960120" cy="342900"/>
          </a:xfrm>
        </p:spPr>
        <p:txBody>
          <a:bodyPr/>
          <a:lstStyle/>
          <a:p>
            <a:fld id="{54AB02A5-4FE5-49D9-9E24-09F23B90C450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17" name="16 - Θέση υποσέλιδου"/>
          <p:cNvSpPr>
            <a:spLocks noGrp="1"/>
          </p:cNvSpPr>
          <p:nvPr>
            <p:ph type="ftr" sz="quarter" idx="11"/>
          </p:nvPr>
        </p:nvSpPr>
        <p:spPr>
          <a:xfrm>
            <a:off x="5410200" y="3153966"/>
            <a:ext cx="1295400" cy="34290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29" name="28 - Θέση αριθμού διαφάνειας"/>
          <p:cNvSpPr>
            <a:spLocks noGrp="1"/>
          </p:cNvSpPr>
          <p:nvPr>
            <p:ph type="sldNum" sz="quarter" idx="12"/>
          </p:nvPr>
        </p:nvSpPr>
        <p:spPr>
          <a:xfrm>
            <a:off x="8320088" y="852"/>
            <a:ext cx="747712" cy="27432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algn="r">
              <a:lnSpc>
                <a:spcPct val="100000"/>
              </a:lnSpc>
            </a:pPr>
            <a:fld id="{901FEB23-6087-4E92-B6AC-7647783AD3F1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Αντι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901FEB23-6087-4E92-B6AC-7647783AD3F1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722313" y="1485901"/>
            <a:ext cx="7772400" cy="1021556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1"/>
          </p:nvPr>
        </p:nvSpPr>
        <p:spPr>
          <a:xfrm>
            <a:off x="722313" y="2525316"/>
            <a:ext cx="7772400" cy="1132284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l-GR"/>
              <a:t>Kλικ για επεξεργασία των στυλ του υποδείγματος</a:t>
            </a:r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901FEB23-6087-4E92-B6AC-7647783AD3F1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περιεχομένου"/>
          <p:cNvSpPr>
            <a:spLocks noGrp="1"/>
          </p:cNvSpPr>
          <p:nvPr>
            <p:ph sz="half" idx="1"/>
          </p:nvPr>
        </p:nvSpPr>
        <p:spPr>
          <a:xfrm>
            <a:off x="457200" y="1687069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4" name="3 - Θέση περιεχομένου"/>
          <p:cNvSpPr>
            <a:spLocks noGrp="1"/>
          </p:cNvSpPr>
          <p:nvPr>
            <p:ph sz="half" idx="2"/>
          </p:nvPr>
        </p:nvSpPr>
        <p:spPr>
          <a:xfrm>
            <a:off x="4648200" y="1687069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5" name="4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5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901FEB23-6087-4E92-B6AC-7647783AD3F1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381000" y="857250"/>
            <a:ext cx="8382000" cy="802386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1"/>
          </p:nvPr>
        </p:nvSpPr>
        <p:spPr>
          <a:xfrm>
            <a:off x="381000" y="1683728"/>
            <a:ext cx="4041648" cy="3429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l-GR"/>
              <a:t>Kλικ για επεξεργασία των στυλ του υποδείγματος</a:t>
            </a:r>
          </a:p>
        </p:txBody>
      </p:sp>
      <p:sp>
        <p:nvSpPr>
          <p:cNvPr id="4" name="3 - Θέση κειμένου"/>
          <p:cNvSpPr>
            <a:spLocks noGrp="1"/>
          </p:cNvSpPr>
          <p:nvPr>
            <p:ph type="body" sz="half" idx="3"/>
          </p:nvPr>
        </p:nvSpPr>
        <p:spPr>
          <a:xfrm>
            <a:off x="4721232" y="1683728"/>
            <a:ext cx="4041775" cy="3429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l-GR"/>
              <a:t>Kλικ για επεξεργασία των στυλ του υποδείγματος</a:t>
            </a:r>
          </a:p>
        </p:txBody>
      </p:sp>
      <p:sp>
        <p:nvSpPr>
          <p:cNvPr id="5" name="4 - Θέση περιεχομένου"/>
          <p:cNvSpPr>
            <a:spLocks noGrp="1"/>
          </p:cNvSpPr>
          <p:nvPr>
            <p:ph sz="quarter" idx="2"/>
          </p:nvPr>
        </p:nvSpPr>
        <p:spPr>
          <a:xfrm>
            <a:off x="381000" y="2031389"/>
            <a:ext cx="4041648" cy="29146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6" name="5 - Θέση περιεχομένου"/>
          <p:cNvSpPr>
            <a:spLocks noGrp="1"/>
          </p:cNvSpPr>
          <p:nvPr>
            <p:ph sz="quarter" idx="4"/>
          </p:nvPr>
        </p:nvSpPr>
        <p:spPr>
          <a:xfrm>
            <a:off x="4718311" y="2031389"/>
            <a:ext cx="4041775" cy="29146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26" name="25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4AB02A5-4FE5-49D9-9E24-09F23B90C450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27" name="26 - Θέση αριθμού διαφάνειας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algn="r">
              <a:lnSpc>
                <a:spcPct val="100000"/>
              </a:lnSpc>
            </a:pPr>
            <a:fld id="{901FEB23-6087-4E92-B6AC-7647783AD3F1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  <p:sp>
        <p:nvSpPr>
          <p:cNvPr id="28" name="27 - Θέση υποσέλιδου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457200" y="857250"/>
            <a:ext cx="8229600" cy="802386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ημερομηνίας"/>
          <p:cNvSpPr>
            <a:spLocks noGrp="1"/>
          </p:cNvSpPr>
          <p:nvPr>
            <p:ph type="dt" sz="half" idx="10"/>
          </p:nvPr>
        </p:nvSpPr>
        <p:spPr>
          <a:xfrm>
            <a:off x="6583680" y="459486"/>
            <a:ext cx="957264" cy="342900"/>
          </a:xfrm>
        </p:spPr>
        <p:txBody>
          <a:bodyPr/>
          <a:lstStyle/>
          <a:p>
            <a:fld id="{54AB02A5-4FE5-49D9-9E24-09F23B90C450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3 - Θέση υποσέλιδου"/>
          <p:cNvSpPr>
            <a:spLocks noGrp="1"/>
          </p:cNvSpPr>
          <p:nvPr>
            <p:ph type="ftr" sz="quarter" idx="11"/>
          </p:nvPr>
        </p:nvSpPr>
        <p:spPr>
          <a:xfrm>
            <a:off x="5257800" y="459486"/>
            <a:ext cx="1325880" cy="342900"/>
          </a:xfrm>
        </p:spPr>
        <p:txBody>
          <a:bodyPr/>
          <a:lstStyle/>
          <a:p>
            <a:endParaRPr kumimoji="0" lang="en-US"/>
          </a:p>
        </p:txBody>
      </p:sp>
      <p:sp>
        <p:nvSpPr>
          <p:cNvPr id="5" name="4 - Θέση αριθμού διαφάνειας"/>
          <p:cNvSpPr>
            <a:spLocks noGrp="1"/>
          </p:cNvSpPr>
          <p:nvPr>
            <p:ph type="sldNum" sz="quarter" idx="12"/>
          </p:nvPr>
        </p:nvSpPr>
        <p:spPr>
          <a:xfrm>
            <a:off x="8174736" y="1704"/>
            <a:ext cx="762000" cy="274320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901FEB23-6087-4E92-B6AC-7647783AD3F1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2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3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901FEB23-6087-4E92-B6AC-7647783AD3F1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5353496" y="826477"/>
            <a:ext cx="3383280" cy="658368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2"/>
          </p:nvPr>
        </p:nvSpPr>
        <p:spPr>
          <a:xfrm>
            <a:off x="5353496" y="1508045"/>
            <a:ext cx="3383280" cy="346329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l-GR"/>
              <a:t>Kλικ για επεξεργασία των στυλ του υποδείγματος</a:t>
            </a:r>
          </a:p>
        </p:txBody>
      </p:sp>
      <p:sp>
        <p:nvSpPr>
          <p:cNvPr id="4" name="3 - Θέση περιεχομένου"/>
          <p:cNvSpPr>
            <a:spLocks noGrp="1"/>
          </p:cNvSpPr>
          <p:nvPr>
            <p:ph sz="half" idx="1"/>
          </p:nvPr>
        </p:nvSpPr>
        <p:spPr>
          <a:xfrm>
            <a:off x="152400" y="582215"/>
            <a:ext cx="5102352" cy="438912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5" name="4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5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901FEB23-6087-4E92-B6AC-7647783AD3F1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5440437" y="831870"/>
            <a:ext cx="586803" cy="3511228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εικόνας"/>
          <p:cNvSpPr>
            <a:spLocks noGrp="1"/>
          </p:cNvSpPr>
          <p:nvPr>
            <p:ph type="pic" idx="1"/>
          </p:nvPr>
        </p:nvSpPr>
        <p:spPr>
          <a:xfrm>
            <a:off x="403671" y="857250"/>
            <a:ext cx="4572000" cy="3429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l-GR"/>
              <a:t>Κάντε κλικ στο εικονίδιο για να προσθέσετε μια εικόνα</a:t>
            </a:r>
            <a:endParaRPr kumimoji="0" lang="en-US" dirty="0"/>
          </a:p>
        </p:txBody>
      </p:sp>
      <p:sp>
        <p:nvSpPr>
          <p:cNvPr id="4" name="3 - Θέση κειμένου"/>
          <p:cNvSpPr>
            <a:spLocks noGrp="1"/>
          </p:cNvSpPr>
          <p:nvPr>
            <p:ph type="body" sz="half" idx="2"/>
          </p:nvPr>
        </p:nvSpPr>
        <p:spPr>
          <a:xfrm>
            <a:off x="6088443" y="2455734"/>
            <a:ext cx="2590800" cy="1887367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l-GR"/>
              <a:t>Kλικ για επεξεργασία των στυλ του υποδείγματος</a:t>
            </a:r>
          </a:p>
        </p:txBody>
      </p:sp>
      <p:sp>
        <p:nvSpPr>
          <p:cNvPr id="5" name="4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5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901FEB23-6087-4E92-B6AC-7647783AD3F1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κατακόρυφου κειμένου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901FEB23-6087-4E92-B6AC-7647783AD3F1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Κατακόρυφος τίτλος"/>
          <p:cNvSpPr>
            <a:spLocks noGrp="1"/>
          </p:cNvSpPr>
          <p:nvPr>
            <p:ph type="title" orient="vert"/>
          </p:nvPr>
        </p:nvSpPr>
        <p:spPr>
          <a:xfrm>
            <a:off x="6781800" y="857250"/>
            <a:ext cx="1905000" cy="4114800"/>
          </a:xfrm>
        </p:spPr>
        <p:txBody>
          <a:bodyPr vert="eaVert"/>
          <a:lstStyle/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κατακόρυφου κειμένου"/>
          <p:cNvSpPr>
            <a:spLocks noGrp="1"/>
          </p:cNvSpPr>
          <p:nvPr>
            <p:ph type="body" orient="vert" idx="1"/>
          </p:nvPr>
        </p:nvSpPr>
        <p:spPr>
          <a:xfrm>
            <a:off x="457200" y="857250"/>
            <a:ext cx="6248400" cy="4114800"/>
          </a:xfrm>
        </p:spPr>
        <p:txBody>
          <a:bodyPr vert="eaVert"/>
          <a:lstStyle/>
          <a:p>
            <a:pPr lvl="0" eaLnBrk="1" latinLnBrk="0" hangingPunct="1"/>
            <a:r>
              <a:rPr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901FEB23-6087-4E92-B6AC-7647783AD3F1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22 - Ορθογώνιο"/>
          <p:cNvSpPr/>
          <p:nvPr/>
        </p:nvSpPr>
        <p:spPr>
          <a:xfrm flipV="1">
            <a:off x="5410187" y="2857503"/>
            <a:ext cx="3733819" cy="6831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23 - Ορθογώνιο"/>
          <p:cNvSpPr/>
          <p:nvPr/>
        </p:nvSpPr>
        <p:spPr>
          <a:xfrm flipV="1">
            <a:off x="5410205" y="2922758"/>
            <a:ext cx="3733801" cy="144018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24 - Ορθογώνιο"/>
          <p:cNvSpPr/>
          <p:nvPr/>
        </p:nvSpPr>
        <p:spPr>
          <a:xfrm flipV="1">
            <a:off x="5410205" y="3086375"/>
            <a:ext cx="3733801" cy="6858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25 - Ορθογώνιο"/>
          <p:cNvSpPr/>
          <p:nvPr/>
        </p:nvSpPr>
        <p:spPr>
          <a:xfrm flipV="1">
            <a:off x="5410200" y="3123302"/>
            <a:ext cx="1965960" cy="13716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26 - Ορθογώνιο"/>
          <p:cNvSpPr/>
          <p:nvPr/>
        </p:nvSpPr>
        <p:spPr>
          <a:xfrm flipV="1">
            <a:off x="5410200" y="3149679"/>
            <a:ext cx="1965960" cy="6858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29 - Στρογγυλεμένο ορθογώνιο"/>
          <p:cNvSpPr/>
          <p:nvPr/>
        </p:nvSpPr>
        <p:spPr bwMode="white">
          <a:xfrm>
            <a:off x="5410200" y="2971800"/>
            <a:ext cx="3063240" cy="20574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30 - Στρογγυλεμένο ορθογώνιο"/>
          <p:cNvSpPr/>
          <p:nvPr/>
        </p:nvSpPr>
        <p:spPr bwMode="white">
          <a:xfrm>
            <a:off x="7376507" y="3045737"/>
            <a:ext cx="160020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- Ορθογώνιο"/>
          <p:cNvSpPr/>
          <p:nvPr/>
        </p:nvSpPr>
        <p:spPr>
          <a:xfrm>
            <a:off x="1" y="2737246"/>
            <a:ext cx="9144000" cy="183128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- Ορθογώνιο"/>
          <p:cNvSpPr/>
          <p:nvPr/>
        </p:nvSpPr>
        <p:spPr>
          <a:xfrm>
            <a:off x="1" y="2756646"/>
            <a:ext cx="9144001" cy="10550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- Ορθογώνιο"/>
          <p:cNvSpPr/>
          <p:nvPr/>
        </p:nvSpPr>
        <p:spPr>
          <a:xfrm flipV="1">
            <a:off x="6414051" y="2732318"/>
            <a:ext cx="2729950" cy="1863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- Ορθογώνιο"/>
          <p:cNvSpPr/>
          <p:nvPr/>
        </p:nvSpPr>
        <p:spPr>
          <a:xfrm>
            <a:off x="0" y="1"/>
            <a:ext cx="9144000" cy="2776275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- Τίτλος"/>
          <p:cNvSpPr>
            <a:spLocks noGrp="1"/>
          </p:cNvSpPr>
          <p:nvPr>
            <p:ph type="ctrTitle"/>
          </p:nvPr>
        </p:nvSpPr>
        <p:spPr>
          <a:xfrm>
            <a:off x="457200" y="1801418"/>
            <a:ext cx="8458200" cy="1102519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9" name="8 - Υπότιτλος"/>
          <p:cNvSpPr>
            <a:spLocks noGrp="1"/>
          </p:cNvSpPr>
          <p:nvPr>
            <p:ph type="subTitle" idx="1"/>
          </p:nvPr>
        </p:nvSpPr>
        <p:spPr>
          <a:xfrm>
            <a:off x="457200" y="2924953"/>
            <a:ext cx="4953000" cy="131445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l-GR"/>
              <a:t>Κάντε κλικ για να επεξεργαστείτε τον υπότιτλο του υποδείγματος</a:t>
            </a:r>
            <a:endParaRPr kumimoji="0" lang="en-US"/>
          </a:p>
        </p:txBody>
      </p:sp>
      <p:sp>
        <p:nvSpPr>
          <p:cNvPr id="28" name="27 - Θέση ημερομηνίας"/>
          <p:cNvSpPr>
            <a:spLocks noGrp="1"/>
          </p:cNvSpPr>
          <p:nvPr>
            <p:ph type="dt" sz="half" idx="10"/>
          </p:nvPr>
        </p:nvSpPr>
        <p:spPr>
          <a:xfrm>
            <a:off x="6705600" y="3154680"/>
            <a:ext cx="960120" cy="342900"/>
          </a:xfrm>
        </p:spPr>
        <p:txBody>
          <a:bodyPr/>
          <a:lstStyle/>
          <a:p>
            <a:fld id="{C3F416CD-67A3-4CF0-A210-F6AF31AC147F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17" name="16 - Θέση υποσέλιδου"/>
          <p:cNvSpPr>
            <a:spLocks noGrp="1"/>
          </p:cNvSpPr>
          <p:nvPr>
            <p:ph type="ftr" sz="quarter" idx="11"/>
          </p:nvPr>
        </p:nvSpPr>
        <p:spPr>
          <a:xfrm>
            <a:off x="5410200" y="3153966"/>
            <a:ext cx="1295400" cy="3429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28 - Θέση αριθμού διαφάνειας"/>
          <p:cNvSpPr>
            <a:spLocks noGrp="1"/>
          </p:cNvSpPr>
          <p:nvPr>
            <p:ph type="sldNum" sz="quarter" idx="12"/>
          </p:nvPr>
        </p:nvSpPr>
        <p:spPr>
          <a:xfrm>
            <a:off x="8320088" y="852"/>
            <a:ext cx="747712" cy="27432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algn="r">
              <a:lnSpc>
                <a:spcPct val="100000"/>
              </a:lnSpc>
            </a:pPr>
            <a:fld id="{A14BDF0F-C224-42E7-BF52-E5BA67E69E98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Αντι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14BDF0F-C224-42E7-BF52-E5BA67E69E98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722313" y="1485901"/>
            <a:ext cx="7772400" cy="1021556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1"/>
          </p:nvPr>
        </p:nvSpPr>
        <p:spPr>
          <a:xfrm>
            <a:off x="722313" y="2525316"/>
            <a:ext cx="7772400" cy="1132284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l-GR"/>
              <a:t>Kλικ για επεξεργασία των στυλ του υποδείγματος</a:t>
            </a:r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14BDF0F-C224-42E7-BF52-E5BA67E69E98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περιεχομένου"/>
          <p:cNvSpPr>
            <a:spLocks noGrp="1"/>
          </p:cNvSpPr>
          <p:nvPr>
            <p:ph sz="half" idx="1"/>
          </p:nvPr>
        </p:nvSpPr>
        <p:spPr>
          <a:xfrm>
            <a:off x="457200" y="1687069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4" name="3 - Θέση περιεχομένου"/>
          <p:cNvSpPr>
            <a:spLocks noGrp="1"/>
          </p:cNvSpPr>
          <p:nvPr>
            <p:ph sz="half" idx="2"/>
          </p:nvPr>
        </p:nvSpPr>
        <p:spPr>
          <a:xfrm>
            <a:off x="4648200" y="1687069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5" name="4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5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14BDF0F-C224-42E7-BF52-E5BA67E69E98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381000" y="857250"/>
            <a:ext cx="8382000" cy="802386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1"/>
          </p:nvPr>
        </p:nvSpPr>
        <p:spPr>
          <a:xfrm>
            <a:off x="381000" y="1683728"/>
            <a:ext cx="4041648" cy="3429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l-GR"/>
              <a:t>Kλικ για επεξεργασία των στυλ του υποδείγματος</a:t>
            </a:r>
          </a:p>
        </p:txBody>
      </p:sp>
      <p:sp>
        <p:nvSpPr>
          <p:cNvPr id="4" name="3 - Θέση κειμένου"/>
          <p:cNvSpPr>
            <a:spLocks noGrp="1"/>
          </p:cNvSpPr>
          <p:nvPr>
            <p:ph type="body" sz="half" idx="3"/>
          </p:nvPr>
        </p:nvSpPr>
        <p:spPr>
          <a:xfrm>
            <a:off x="4721230" y="1683728"/>
            <a:ext cx="4041775" cy="3429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l-GR"/>
              <a:t>Kλικ για επεξεργασία των στυλ του υποδείγματος</a:t>
            </a:r>
          </a:p>
        </p:txBody>
      </p:sp>
      <p:sp>
        <p:nvSpPr>
          <p:cNvPr id="5" name="4 - Θέση περιεχομένου"/>
          <p:cNvSpPr>
            <a:spLocks noGrp="1"/>
          </p:cNvSpPr>
          <p:nvPr>
            <p:ph sz="quarter" idx="2"/>
          </p:nvPr>
        </p:nvSpPr>
        <p:spPr>
          <a:xfrm>
            <a:off x="381000" y="2031389"/>
            <a:ext cx="4041648" cy="29146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6" name="5 - Θέση περιεχομένου"/>
          <p:cNvSpPr>
            <a:spLocks noGrp="1"/>
          </p:cNvSpPr>
          <p:nvPr>
            <p:ph sz="quarter" idx="4"/>
          </p:nvPr>
        </p:nvSpPr>
        <p:spPr>
          <a:xfrm>
            <a:off x="4718309" y="2031389"/>
            <a:ext cx="4041775" cy="29146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26" name="25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algn="l" eaLnBrk="1" latinLnBrk="0" hangingPunct="1"/>
            <a:fld id="{C3F416CD-67A3-4CF0-A210-F6AF31AC147F}" type="datetimeFigureOut">
              <a:rPr lang="en-US" smtClean="0"/>
              <a:pPr algn="l" eaLnBrk="1" latinLnBrk="0" hangingPunct="1"/>
              <a:t>3/26/2026</a:t>
            </a:fld>
            <a:endParaRPr lang="en-US"/>
          </a:p>
        </p:txBody>
      </p:sp>
      <p:sp>
        <p:nvSpPr>
          <p:cNvPr id="27" name="26 - Θέση αριθμού διαφάνειας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algn="r">
              <a:lnSpc>
                <a:spcPct val="100000"/>
              </a:lnSpc>
            </a:pPr>
            <a:fld id="{A14BDF0F-C224-42E7-BF52-E5BA67E69E98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  <p:sp>
        <p:nvSpPr>
          <p:cNvPr id="28" name="27 - Θέση υποσέλιδου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457200" y="857250"/>
            <a:ext cx="8229600" cy="802386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ημερομηνίας"/>
          <p:cNvSpPr>
            <a:spLocks noGrp="1"/>
          </p:cNvSpPr>
          <p:nvPr>
            <p:ph type="dt" sz="half" idx="10"/>
          </p:nvPr>
        </p:nvSpPr>
        <p:spPr>
          <a:xfrm>
            <a:off x="6583680" y="459486"/>
            <a:ext cx="957264" cy="342900"/>
          </a:xfrm>
        </p:spPr>
        <p:txBody>
          <a:bodyPr/>
          <a:lstStyle/>
          <a:p>
            <a:fld id="{C3F416CD-67A3-4CF0-A210-F6AF31AC147F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3 - Θέση υποσέλιδου"/>
          <p:cNvSpPr>
            <a:spLocks noGrp="1"/>
          </p:cNvSpPr>
          <p:nvPr>
            <p:ph type="ftr" sz="quarter" idx="11"/>
          </p:nvPr>
        </p:nvSpPr>
        <p:spPr>
          <a:xfrm>
            <a:off x="5257800" y="459486"/>
            <a:ext cx="1325880" cy="3429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5" name="4 - Θέση αριθμού διαφάνειας"/>
          <p:cNvSpPr>
            <a:spLocks noGrp="1"/>
          </p:cNvSpPr>
          <p:nvPr>
            <p:ph type="sldNum" sz="quarter" idx="12"/>
          </p:nvPr>
        </p:nvSpPr>
        <p:spPr>
          <a:xfrm>
            <a:off x="8174736" y="1704"/>
            <a:ext cx="762000" cy="274320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A14BDF0F-C224-42E7-BF52-E5BA67E69E98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2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3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14BDF0F-C224-42E7-BF52-E5BA67E69E98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5353496" y="826477"/>
            <a:ext cx="3383280" cy="658368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2"/>
          </p:nvPr>
        </p:nvSpPr>
        <p:spPr>
          <a:xfrm>
            <a:off x="5353496" y="1508045"/>
            <a:ext cx="3383280" cy="346329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l-GR"/>
              <a:t>Kλικ για επεξεργασία των στυλ του υποδείγματος</a:t>
            </a:r>
          </a:p>
        </p:txBody>
      </p:sp>
      <p:sp>
        <p:nvSpPr>
          <p:cNvPr id="4" name="3 - Θέση περιεχομένου"/>
          <p:cNvSpPr>
            <a:spLocks noGrp="1"/>
          </p:cNvSpPr>
          <p:nvPr>
            <p:ph sz="half" idx="1"/>
          </p:nvPr>
        </p:nvSpPr>
        <p:spPr>
          <a:xfrm>
            <a:off x="152400" y="582215"/>
            <a:ext cx="5102352" cy="438912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5" name="4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5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14BDF0F-C224-42E7-BF52-E5BA67E69E98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5440437" y="831870"/>
            <a:ext cx="586803" cy="3511228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εικόνας"/>
          <p:cNvSpPr>
            <a:spLocks noGrp="1"/>
          </p:cNvSpPr>
          <p:nvPr>
            <p:ph type="pic" idx="1"/>
          </p:nvPr>
        </p:nvSpPr>
        <p:spPr>
          <a:xfrm>
            <a:off x="403671" y="857250"/>
            <a:ext cx="4572000" cy="3429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l-GR"/>
              <a:t>Κάντε κλικ στο εικονίδιο για να προσθέσετε μια εικόνα</a:t>
            </a:r>
            <a:endParaRPr kumimoji="0" lang="en-US" dirty="0"/>
          </a:p>
        </p:txBody>
      </p:sp>
      <p:sp>
        <p:nvSpPr>
          <p:cNvPr id="4" name="3 - Θέση κειμένου"/>
          <p:cNvSpPr>
            <a:spLocks noGrp="1"/>
          </p:cNvSpPr>
          <p:nvPr>
            <p:ph type="body" sz="half" idx="2"/>
          </p:nvPr>
        </p:nvSpPr>
        <p:spPr>
          <a:xfrm>
            <a:off x="6088443" y="2455733"/>
            <a:ext cx="2590800" cy="1887367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l-GR"/>
              <a:t>Kλικ για επεξεργασία των στυλ του υποδείγματος</a:t>
            </a:r>
          </a:p>
        </p:txBody>
      </p:sp>
      <p:sp>
        <p:nvSpPr>
          <p:cNvPr id="5" name="4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5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14BDF0F-C224-42E7-BF52-E5BA67E69E98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κατακόρυφου κειμένου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14BDF0F-C224-42E7-BF52-E5BA67E69E98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Κατακόρυφος τίτλος"/>
          <p:cNvSpPr>
            <a:spLocks noGrp="1"/>
          </p:cNvSpPr>
          <p:nvPr>
            <p:ph type="title" orient="vert"/>
          </p:nvPr>
        </p:nvSpPr>
        <p:spPr>
          <a:xfrm>
            <a:off x="6781800" y="857250"/>
            <a:ext cx="1905000" cy="4114800"/>
          </a:xfrm>
        </p:spPr>
        <p:txBody>
          <a:bodyPr vert="eaVert"/>
          <a:lstStyle/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κατακόρυφου κειμένου"/>
          <p:cNvSpPr>
            <a:spLocks noGrp="1"/>
          </p:cNvSpPr>
          <p:nvPr>
            <p:ph type="body" orient="vert" idx="1"/>
          </p:nvPr>
        </p:nvSpPr>
        <p:spPr>
          <a:xfrm>
            <a:off x="457200" y="857250"/>
            <a:ext cx="6248400" cy="4114800"/>
          </a:xfrm>
        </p:spPr>
        <p:txBody>
          <a:bodyPr vert="eaVert"/>
          <a:lstStyle/>
          <a:p>
            <a:pPr lvl="0" eaLnBrk="1" latinLnBrk="0" hangingPunct="1"/>
            <a:r>
              <a:rPr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A14BDF0F-C224-42E7-BF52-E5BA67E69E98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22 - Ορθογώνιο"/>
          <p:cNvSpPr/>
          <p:nvPr/>
        </p:nvSpPr>
        <p:spPr>
          <a:xfrm flipV="1">
            <a:off x="5410183" y="2857501"/>
            <a:ext cx="3733819" cy="6831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23 - Ορθογώνιο"/>
          <p:cNvSpPr/>
          <p:nvPr/>
        </p:nvSpPr>
        <p:spPr>
          <a:xfrm flipV="1">
            <a:off x="5410201" y="2922758"/>
            <a:ext cx="3733801" cy="144018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24 - Ορθογώνιο"/>
          <p:cNvSpPr/>
          <p:nvPr/>
        </p:nvSpPr>
        <p:spPr>
          <a:xfrm flipV="1">
            <a:off x="5410201" y="3086375"/>
            <a:ext cx="3733801" cy="6858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25 - Ορθογώνιο"/>
          <p:cNvSpPr/>
          <p:nvPr/>
        </p:nvSpPr>
        <p:spPr>
          <a:xfrm flipV="1">
            <a:off x="5410200" y="3123302"/>
            <a:ext cx="1965960" cy="13716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26 - Ορθογώνιο"/>
          <p:cNvSpPr/>
          <p:nvPr/>
        </p:nvSpPr>
        <p:spPr>
          <a:xfrm flipV="1">
            <a:off x="5410200" y="3149679"/>
            <a:ext cx="1965960" cy="6858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29 - Στρογγυλεμένο ορθογώνιο"/>
          <p:cNvSpPr/>
          <p:nvPr/>
        </p:nvSpPr>
        <p:spPr bwMode="white">
          <a:xfrm>
            <a:off x="5410200" y="2971800"/>
            <a:ext cx="3063240" cy="20574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30 - Στρογγυλεμένο ορθογώνιο"/>
          <p:cNvSpPr/>
          <p:nvPr/>
        </p:nvSpPr>
        <p:spPr bwMode="white">
          <a:xfrm>
            <a:off x="7376507" y="3045737"/>
            <a:ext cx="160020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- Ορθογώνιο"/>
          <p:cNvSpPr/>
          <p:nvPr/>
        </p:nvSpPr>
        <p:spPr>
          <a:xfrm>
            <a:off x="1" y="2737246"/>
            <a:ext cx="9144000" cy="183128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- Ορθογώνιο"/>
          <p:cNvSpPr/>
          <p:nvPr/>
        </p:nvSpPr>
        <p:spPr>
          <a:xfrm>
            <a:off x="1" y="2756646"/>
            <a:ext cx="9144001" cy="10550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- Ορθογώνιο"/>
          <p:cNvSpPr/>
          <p:nvPr/>
        </p:nvSpPr>
        <p:spPr>
          <a:xfrm flipV="1">
            <a:off x="6414051" y="2732318"/>
            <a:ext cx="2729950" cy="1863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- Ορθογώνιο"/>
          <p:cNvSpPr/>
          <p:nvPr/>
        </p:nvSpPr>
        <p:spPr>
          <a:xfrm>
            <a:off x="0" y="0"/>
            <a:ext cx="9144000" cy="2776275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- Τίτλος"/>
          <p:cNvSpPr>
            <a:spLocks noGrp="1"/>
          </p:cNvSpPr>
          <p:nvPr>
            <p:ph type="ctrTitle"/>
          </p:nvPr>
        </p:nvSpPr>
        <p:spPr>
          <a:xfrm>
            <a:off x="457200" y="1801416"/>
            <a:ext cx="8458200" cy="1102519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9" name="8 - Υπότιτλος"/>
          <p:cNvSpPr>
            <a:spLocks noGrp="1"/>
          </p:cNvSpPr>
          <p:nvPr>
            <p:ph type="subTitle" idx="1"/>
          </p:nvPr>
        </p:nvSpPr>
        <p:spPr>
          <a:xfrm>
            <a:off x="457200" y="2924953"/>
            <a:ext cx="4953000" cy="131445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l-GR"/>
              <a:t>Κάντε κλικ για να επεξεργαστείτε τον υπότιτλο του υποδείγματος</a:t>
            </a:r>
            <a:endParaRPr kumimoji="0" lang="en-US"/>
          </a:p>
        </p:txBody>
      </p:sp>
      <p:sp>
        <p:nvSpPr>
          <p:cNvPr id="28" name="27 - Θέση ημερομηνίας"/>
          <p:cNvSpPr>
            <a:spLocks noGrp="1"/>
          </p:cNvSpPr>
          <p:nvPr>
            <p:ph type="dt" sz="half" idx="10"/>
          </p:nvPr>
        </p:nvSpPr>
        <p:spPr>
          <a:xfrm>
            <a:off x="6705600" y="3154680"/>
            <a:ext cx="960120" cy="342900"/>
          </a:xfrm>
        </p:spPr>
        <p:txBody>
          <a:bodyPr/>
          <a:lstStyle/>
          <a:p>
            <a:fld id="{C3F416CD-67A3-4CF0-A210-F6AF31AC147F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17" name="16 - Θέση υποσέλιδου"/>
          <p:cNvSpPr>
            <a:spLocks noGrp="1"/>
          </p:cNvSpPr>
          <p:nvPr>
            <p:ph type="ftr" sz="quarter" idx="11"/>
          </p:nvPr>
        </p:nvSpPr>
        <p:spPr>
          <a:xfrm>
            <a:off x="5410200" y="3153966"/>
            <a:ext cx="1295400" cy="3429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28 - Θέση αριθμού διαφάνειας"/>
          <p:cNvSpPr>
            <a:spLocks noGrp="1"/>
          </p:cNvSpPr>
          <p:nvPr>
            <p:ph type="sldNum" sz="quarter" idx="12"/>
          </p:nvPr>
        </p:nvSpPr>
        <p:spPr>
          <a:xfrm>
            <a:off x="8320088" y="852"/>
            <a:ext cx="747712" cy="27432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algn="r">
              <a:lnSpc>
                <a:spcPct val="100000"/>
              </a:lnSpc>
            </a:pPr>
            <a:fld id="{8CEF6CAA-2F46-43BE-B5D4-ACC5E785CF16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Αντι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8CEF6CAA-2F46-43BE-B5D4-ACC5E785CF16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722313" y="1485901"/>
            <a:ext cx="7772400" cy="1021556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1"/>
          </p:nvPr>
        </p:nvSpPr>
        <p:spPr>
          <a:xfrm>
            <a:off x="722313" y="2525316"/>
            <a:ext cx="7772400" cy="1132284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l-GR"/>
              <a:t>Kλικ για επεξεργασία των στυλ του υποδείγματος</a:t>
            </a:r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8CEF6CAA-2F46-43BE-B5D4-ACC5E785CF16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περιεχομένου"/>
          <p:cNvSpPr>
            <a:spLocks noGrp="1"/>
          </p:cNvSpPr>
          <p:nvPr>
            <p:ph sz="half" idx="1"/>
          </p:nvPr>
        </p:nvSpPr>
        <p:spPr>
          <a:xfrm>
            <a:off x="457200" y="1687069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4" name="3 - Θέση περιεχομένου"/>
          <p:cNvSpPr>
            <a:spLocks noGrp="1"/>
          </p:cNvSpPr>
          <p:nvPr>
            <p:ph sz="half" idx="2"/>
          </p:nvPr>
        </p:nvSpPr>
        <p:spPr>
          <a:xfrm>
            <a:off x="4648200" y="1687069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5" name="4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5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8CEF6CAA-2F46-43BE-B5D4-ACC5E785CF16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381000" y="857250"/>
            <a:ext cx="8382000" cy="802386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1"/>
          </p:nvPr>
        </p:nvSpPr>
        <p:spPr>
          <a:xfrm>
            <a:off x="381000" y="1683728"/>
            <a:ext cx="4041648" cy="3429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l-GR"/>
              <a:t>Kλικ για επεξεργασία των στυλ του υποδείγματος</a:t>
            </a:r>
          </a:p>
        </p:txBody>
      </p:sp>
      <p:sp>
        <p:nvSpPr>
          <p:cNvPr id="4" name="3 - Θέση κειμένου"/>
          <p:cNvSpPr>
            <a:spLocks noGrp="1"/>
          </p:cNvSpPr>
          <p:nvPr>
            <p:ph type="body" sz="half" idx="3"/>
          </p:nvPr>
        </p:nvSpPr>
        <p:spPr>
          <a:xfrm>
            <a:off x="4721226" y="1683728"/>
            <a:ext cx="4041775" cy="3429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l-GR"/>
              <a:t>Kλικ για επεξεργασία των στυλ του υποδείγματος</a:t>
            </a:r>
          </a:p>
        </p:txBody>
      </p:sp>
      <p:sp>
        <p:nvSpPr>
          <p:cNvPr id="5" name="4 - Θέση περιεχομένου"/>
          <p:cNvSpPr>
            <a:spLocks noGrp="1"/>
          </p:cNvSpPr>
          <p:nvPr>
            <p:ph sz="quarter" idx="2"/>
          </p:nvPr>
        </p:nvSpPr>
        <p:spPr>
          <a:xfrm>
            <a:off x="381000" y="2031389"/>
            <a:ext cx="4041648" cy="29146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6" name="5 - Θέση περιεχομένου"/>
          <p:cNvSpPr>
            <a:spLocks noGrp="1"/>
          </p:cNvSpPr>
          <p:nvPr>
            <p:ph sz="quarter" idx="4"/>
          </p:nvPr>
        </p:nvSpPr>
        <p:spPr>
          <a:xfrm>
            <a:off x="4718305" y="2031389"/>
            <a:ext cx="4041775" cy="29146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26" name="25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algn="l" eaLnBrk="1" latinLnBrk="0" hangingPunct="1"/>
            <a:fld id="{C3F416CD-67A3-4CF0-A210-F6AF31AC147F}" type="datetimeFigureOut">
              <a:rPr lang="en-US" smtClean="0"/>
              <a:pPr algn="l" eaLnBrk="1" latinLnBrk="0" hangingPunct="1"/>
              <a:t>3/26/2026</a:t>
            </a:fld>
            <a:endParaRPr lang="en-US"/>
          </a:p>
        </p:txBody>
      </p:sp>
      <p:sp>
        <p:nvSpPr>
          <p:cNvPr id="27" name="26 - Θέση αριθμού διαφάνειας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algn="r">
              <a:lnSpc>
                <a:spcPct val="100000"/>
              </a:lnSpc>
            </a:pPr>
            <a:fld id="{8CEF6CAA-2F46-43BE-B5D4-ACC5E785CF16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  <p:sp>
        <p:nvSpPr>
          <p:cNvPr id="28" name="27 - Θέση υποσέλιδου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457200" y="857250"/>
            <a:ext cx="8229600" cy="802386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ημερομηνίας"/>
          <p:cNvSpPr>
            <a:spLocks noGrp="1"/>
          </p:cNvSpPr>
          <p:nvPr>
            <p:ph type="dt" sz="half" idx="10"/>
          </p:nvPr>
        </p:nvSpPr>
        <p:spPr>
          <a:xfrm>
            <a:off x="6583680" y="459486"/>
            <a:ext cx="957264" cy="342900"/>
          </a:xfrm>
        </p:spPr>
        <p:txBody>
          <a:bodyPr/>
          <a:lstStyle/>
          <a:p>
            <a:fld id="{C3F416CD-67A3-4CF0-A210-F6AF31AC147F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3 - Θέση υποσέλιδου"/>
          <p:cNvSpPr>
            <a:spLocks noGrp="1"/>
          </p:cNvSpPr>
          <p:nvPr>
            <p:ph type="ftr" sz="quarter" idx="11"/>
          </p:nvPr>
        </p:nvSpPr>
        <p:spPr>
          <a:xfrm>
            <a:off x="5257800" y="459486"/>
            <a:ext cx="1325880" cy="34290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5" name="4 - Θέση αριθμού διαφάνειας"/>
          <p:cNvSpPr>
            <a:spLocks noGrp="1"/>
          </p:cNvSpPr>
          <p:nvPr>
            <p:ph type="sldNum" sz="quarter" idx="12"/>
          </p:nvPr>
        </p:nvSpPr>
        <p:spPr>
          <a:xfrm>
            <a:off x="8174736" y="1704"/>
            <a:ext cx="762000" cy="274320"/>
          </a:xfrm>
        </p:spPr>
        <p:txBody>
          <a:bodyPr/>
          <a:lstStyle/>
          <a:p>
            <a:pPr algn="r">
              <a:lnSpc>
                <a:spcPct val="100000"/>
              </a:lnSpc>
            </a:pPr>
            <a:fld id="{8CEF6CAA-2F46-43BE-B5D4-ACC5E785CF16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2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3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8CEF6CAA-2F46-43BE-B5D4-ACC5E785CF16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5353496" y="826477"/>
            <a:ext cx="3383280" cy="658368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2"/>
          </p:nvPr>
        </p:nvSpPr>
        <p:spPr>
          <a:xfrm>
            <a:off x="5353496" y="1508045"/>
            <a:ext cx="3383280" cy="346329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l-GR"/>
              <a:t>Kλικ για επεξεργασία των στυλ του υποδείγματος</a:t>
            </a:r>
          </a:p>
        </p:txBody>
      </p:sp>
      <p:sp>
        <p:nvSpPr>
          <p:cNvPr id="4" name="3 - Θέση περιεχομένου"/>
          <p:cNvSpPr>
            <a:spLocks noGrp="1"/>
          </p:cNvSpPr>
          <p:nvPr>
            <p:ph sz="half" idx="1"/>
          </p:nvPr>
        </p:nvSpPr>
        <p:spPr>
          <a:xfrm>
            <a:off x="152400" y="582215"/>
            <a:ext cx="5102352" cy="438912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5" name="4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5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8CEF6CAA-2F46-43BE-B5D4-ACC5E785CF16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5440435" y="831870"/>
            <a:ext cx="586803" cy="3511228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εικόνας"/>
          <p:cNvSpPr>
            <a:spLocks noGrp="1"/>
          </p:cNvSpPr>
          <p:nvPr>
            <p:ph type="pic" idx="1"/>
          </p:nvPr>
        </p:nvSpPr>
        <p:spPr>
          <a:xfrm>
            <a:off x="403671" y="857250"/>
            <a:ext cx="4572000" cy="3429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l-GR"/>
              <a:t>Κάντε κλικ στο εικονίδιο για να προσθέσετε μια εικόνα</a:t>
            </a:r>
            <a:endParaRPr kumimoji="0" lang="en-US" dirty="0"/>
          </a:p>
        </p:txBody>
      </p:sp>
      <p:sp>
        <p:nvSpPr>
          <p:cNvPr id="4" name="3 - Θέση κειμένου"/>
          <p:cNvSpPr>
            <a:spLocks noGrp="1"/>
          </p:cNvSpPr>
          <p:nvPr>
            <p:ph type="body" sz="half" idx="2"/>
          </p:nvPr>
        </p:nvSpPr>
        <p:spPr>
          <a:xfrm>
            <a:off x="6088443" y="2455731"/>
            <a:ext cx="2590800" cy="1887367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l-GR"/>
              <a:t>Kλικ για επεξεργασία των στυλ του υποδείγματος</a:t>
            </a:r>
          </a:p>
        </p:txBody>
      </p:sp>
      <p:sp>
        <p:nvSpPr>
          <p:cNvPr id="5" name="4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5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8CEF6CAA-2F46-43BE-B5D4-ACC5E785CF16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κατακόρυφου κειμένου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8CEF6CAA-2F46-43BE-B5D4-ACC5E785CF16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Κατακόρυφος τίτλος"/>
          <p:cNvSpPr>
            <a:spLocks noGrp="1"/>
          </p:cNvSpPr>
          <p:nvPr>
            <p:ph type="title" orient="vert"/>
          </p:nvPr>
        </p:nvSpPr>
        <p:spPr>
          <a:xfrm>
            <a:off x="6781800" y="857250"/>
            <a:ext cx="1905000" cy="4114800"/>
          </a:xfrm>
        </p:spPr>
        <p:txBody>
          <a:bodyPr vert="eaVert"/>
          <a:lstStyle/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κατακόρυφου κειμένου"/>
          <p:cNvSpPr>
            <a:spLocks noGrp="1"/>
          </p:cNvSpPr>
          <p:nvPr>
            <p:ph type="body" orient="vert" idx="1"/>
          </p:nvPr>
        </p:nvSpPr>
        <p:spPr>
          <a:xfrm>
            <a:off x="457200" y="857250"/>
            <a:ext cx="6248400" cy="4114800"/>
          </a:xfrm>
        </p:spPr>
        <p:txBody>
          <a:bodyPr vert="eaVert"/>
          <a:lstStyle/>
          <a:p>
            <a:pPr lvl="0" eaLnBrk="1" latinLnBrk="0" hangingPunct="1"/>
            <a:r>
              <a:rPr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/>
              <a:t>Δεύτερου επιπέδου</a:t>
            </a:r>
          </a:p>
          <a:p>
            <a:pPr lvl="2" eaLnBrk="1" latinLnBrk="0" hangingPunct="1"/>
            <a:r>
              <a:rPr lang="el-GR"/>
              <a:t>Τρίτου επιπέδου</a:t>
            </a:r>
          </a:p>
          <a:p>
            <a:pPr lvl="3" eaLnBrk="1" latinLnBrk="0" hangingPunct="1"/>
            <a:r>
              <a:rPr lang="el-GR"/>
              <a:t>Τέταρτου επιπέδου</a:t>
            </a:r>
          </a:p>
          <a:p>
            <a:pPr lvl="4" eaLnBrk="1" latinLnBrk="0" hangingPunct="1"/>
            <a:r>
              <a:rPr lang="el-GR"/>
              <a:t>Πέμπτου επιπέδου</a:t>
            </a:r>
            <a:endParaRPr kumimoji="0" lang="en-US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16CD-67A3-4CF0-A210-F6AF31AC147F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</a:pPr>
            <a:fld id="{8CEF6CAA-2F46-43BE-B5D4-ACC5E785CF16}" type="slidenum">
              <a:rPr lang="el-GR" sz="1000" b="0" strike="noStrike" spc="-1" smtClean="0">
                <a:solidFill>
                  <a:srgbClr val="202729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7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stomShape 1"/>
          <p:cNvSpPr/>
          <p:nvPr/>
        </p:nvSpPr>
        <p:spPr>
          <a:xfrm>
            <a:off x="0" y="2998080"/>
            <a:ext cx="9143640" cy="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80">
            <a:solidFill>
              <a:schemeClr val="lt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510480" y="1257480"/>
            <a:ext cx="8122680" cy="1588320"/>
          </a:xfrm>
          <a:prstGeom prst="rect">
            <a:avLst/>
          </a:prstGeom>
        </p:spPr>
        <p:txBody>
          <a:bodyPr tIns="91440" bIns="91440" anchor="b">
            <a:noAutofit/>
          </a:bodyPr>
          <a:lstStyle/>
          <a:p>
            <a:r>
              <a:rPr lang="el-GR" sz="4800" b="0" strike="noStrike" spc="-1">
                <a:solidFill>
                  <a:srgbClr val="000000"/>
                </a:solidFill>
                <a:latin typeface="Arial"/>
              </a:rPr>
              <a:t>Πατήστε για επεξεργασία της μορφής κειμένου του τίτλου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Autofit/>
          </a:bodyPr>
          <a:lstStyle/>
          <a:p>
            <a:pPr algn="r">
              <a:lnSpc>
                <a:spcPct val="100000"/>
              </a:lnSpc>
            </a:pPr>
            <a:fld id="{6BECEF1D-7455-4014-B4A3-44788715881A}" type="slidenum">
              <a:rPr lang="el-GR" sz="1000" b="0" strike="noStrike" spc="-1">
                <a:solidFill>
                  <a:srgbClr val="FFFFFF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l-GR" sz="1400" b="0" strike="noStrike" spc="-1">
                <a:solidFill>
                  <a:srgbClr val="000000"/>
                </a:solidFill>
                <a:latin typeface="Arial"/>
              </a:rPr>
              <a:t>Πατήστε για επεξεργασία της μορφής κειμένου διάρθρωσης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l-GR" sz="1400" b="0" strike="noStrike" spc="-1">
                <a:solidFill>
                  <a:srgbClr val="000000"/>
                </a:solidFill>
                <a:latin typeface="Arial"/>
              </a:rPr>
              <a:t>Δεύτερο επίπεδο διάρθρωσης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l-GR" sz="1400" b="0" strike="noStrike" spc="-1">
                <a:solidFill>
                  <a:srgbClr val="000000"/>
                </a:solidFill>
                <a:latin typeface="Arial"/>
              </a:rPr>
              <a:t>Τρίτο επίπεδο διάρθρωσης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l-GR" sz="1400" b="0" strike="noStrike" spc="-1">
                <a:solidFill>
                  <a:srgbClr val="000000"/>
                </a:solidFill>
                <a:latin typeface="Arial"/>
              </a:rPr>
              <a:t>Τέταρτο επίπεδο διάρθρωσης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l-GR" sz="2000" b="0" strike="noStrike" spc="-1">
                <a:solidFill>
                  <a:srgbClr val="000000"/>
                </a:solidFill>
                <a:latin typeface="Arial"/>
              </a:rPr>
              <a:t>Πέμπτο επίπεδο διάρθρωσης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l-GR" sz="2000" b="0" strike="noStrike" spc="-1">
                <a:solidFill>
                  <a:srgbClr val="000000"/>
                </a:solidFill>
                <a:latin typeface="Arial"/>
              </a:rPr>
              <a:t>Έκτο επίπεδο διάρθρωσης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l-GR" sz="2000" b="0" strike="noStrike" spc="-1">
                <a:solidFill>
                  <a:srgbClr val="000000"/>
                </a:solidFill>
                <a:latin typeface="Arial"/>
              </a:rPr>
              <a:t>Έβδομο επίπεδο διάρθρωσης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27 - Ορθογώνιο"/>
          <p:cNvSpPr/>
          <p:nvPr/>
        </p:nvSpPr>
        <p:spPr>
          <a:xfrm>
            <a:off x="1" y="275117"/>
            <a:ext cx="9144000" cy="6330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28 - Ορθογώνιο"/>
          <p:cNvSpPr/>
          <p:nvPr/>
        </p:nvSpPr>
        <p:spPr>
          <a:xfrm>
            <a:off x="0" y="0"/>
            <a:ext cx="9144000" cy="232997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29 - Ορθογώνιο"/>
          <p:cNvSpPr/>
          <p:nvPr/>
        </p:nvSpPr>
        <p:spPr>
          <a:xfrm>
            <a:off x="1" y="231210"/>
            <a:ext cx="9144001" cy="6858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30 - Ορθογώνιο"/>
          <p:cNvSpPr/>
          <p:nvPr/>
        </p:nvSpPr>
        <p:spPr>
          <a:xfrm flipV="1">
            <a:off x="5410189" y="270188"/>
            <a:ext cx="3733819" cy="6831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31 - Ορθογώνιο"/>
          <p:cNvSpPr/>
          <p:nvPr/>
        </p:nvSpPr>
        <p:spPr>
          <a:xfrm flipV="1">
            <a:off x="5410207" y="330085"/>
            <a:ext cx="3733801" cy="135026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32 - Στρογγυλεμένο ορθογώνιο"/>
          <p:cNvSpPr/>
          <p:nvPr/>
        </p:nvSpPr>
        <p:spPr bwMode="white">
          <a:xfrm>
            <a:off x="5407339" y="373128"/>
            <a:ext cx="3063240" cy="20574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33 - Στρογγυλεμένο ορθογώνιο"/>
          <p:cNvSpPr/>
          <p:nvPr/>
        </p:nvSpPr>
        <p:spPr bwMode="white">
          <a:xfrm>
            <a:off x="7373646" y="441707"/>
            <a:ext cx="160020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34 - Ορθογώνιο"/>
          <p:cNvSpPr/>
          <p:nvPr/>
        </p:nvSpPr>
        <p:spPr bwMode="invGray">
          <a:xfrm>
            <a:off x="9084966" y="-1501"/>
            <a:ext cx="57626" cy="466344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35 - Ορθογώνιο"/>
          <p:cNvSpPr/>
          <p:nvPr/>
        </p:nvSpPr>
        <p:spPr bwMode="invGray">
          <a:xfrm>
            <a:off x="9044481" y="-1501"/>
            <a:ext cx="27432" cy="466344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36 - Ορθογώνιο"/>
          <p:cNvSpPr/>
          <p:nvPr/>
        </p:nvSpPr>
        <p:spPr bwMode="invGray">
          <a:xfrm>
            <a:off x="9025428" y="-1501"/>
            <a:ext cx="9144" cy="466344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37 - Ορθογώνιο"/>
          <p:cNvSpPr/>
          <p:nvPr/>
        </p:nvSpPr>
        <p:spPr bwMode="invGray">
          <a:xfrm>
            <a:off x="8975423" y="-1501"/>
            <a:ext cx="27432" cy="466344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38 - Ορθογώνιο"/>
          <p:cNvSpPr/>
          <p:nvPr/>
        </p:nvSpPr>
        <p:spPr bwMode="invGray">
          <a:xfrm>
            <a:off x="8915677" y="285"/>
            <a:ext cx="54864" cy="438912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39 - Ορθογώνιο"/>
          <p:cNvSpPr/>
          <p:nvPr/>
        </p:nvSpPr>
        <p:spPr bwMode="invGray">
          <a:xfrm>
            <a:off x="8873475" y="285"/>
            <a:ext cx="9144" cy="438912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- Θέση τίτλου"/>
          <p:cNvSpPr>
            <a:spLocks noGrp="1"/>
          </p:cNvSpPr>
          <p:nvPr>
            <p:ph type="title"/>
          </p:nvPr>
        </p:nvSpPr>
        <p:spPr>
          <a:xfrm>
            <a:off x="457200" y="857250"/>
            <a:ext cx="8229600" cy="8001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13" name="12 - Θέση κειμένου"/>
          <p:cNvSpPr>
            <a:spLocks noGrp="1"/>
          </p:cNvSpPr>
          <p:nvPr>
            <p:ph type="body" idx="1"/>
          </p:nvPr>
        </p:nvSpPr>
        <p:spPr>
          <a:xfrm>
            <a:off x="457200" y="1687068"/>
            <a:ext cx="8229600" cy="324383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kumimoji="0" lang="el-GR"/>
              <a:t>Δεύτερου επιπέδου</a:t>
            </a:r>
          </a:p>
          <a:p>
            <a:pPr lvl="2" eaLnBrk="1" latinLnBrk="0" hangingPunct="1"/>
            <a:r>
              <a:rPr kumimoji="0" lang="el-GR"/>
              <a:t>Τρίτου επιπέδου</a:t>
            </a:r>
          </a:p>
          <a:p>
            <a:pPr lvl="3" eaLnBrk="1" latinLnBrk="0" hangingPunct="1"/>
            <a:r>
              <a:rPr kumimoji="0" lang="el-GR"/>
              <a:t>Τέταρτου επιπέδου</a:t>
            </a:r>
          </a:p>
          <a:p>
            <a:pPr lvl="4" eaLnBrk="1" latinLnBrk="0" hangingPunct="1"/>
            <a:r>
              <a:rPr kumimoji="0" lang="el-GR"/>
              <a:t>Πέμπτου επιπέδου</a:t>
            </a:r>
            <a:endParaRPr kumimoji="0" lang="en-US"/>
          </a:p>
        </p:txBody>
      </p:sp>
      <p:sp>
        <p:nvSpPr>
          <p:cNvPr id="14" name="13 - Θέση ημερομηνίας"/>
          <p:cNvSpPr>
            <a:spLocks noGrp="1"/>
          </p:cNvSpPr>
          <p:nvPr>
            <p:ph type="dt" sz="half" idx="2"/>
          </p:nvPr>
        </p:nvSpPr>
        <p:spPr>
          <a:xfrm>
            <a:off x="6586536" y="459486"/>
            <a:ext cx="957264" cy="3429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pPr algn="l" eaLnBrk="1" latinLnBrk="0" hangingPunct="1"/>
            <a:fld id="{C3F416CD-67A3-4CF0-A210-F6AF31AC147F}" type="datetimeFigureOut">
              <a:rPr lang="en-US" smtClean="0"/>
              <a:pPr algn="l" eaLnBrk="1" latinLnBrk="0" hangingPunct="1"/>
              <a:t>3/26/2026</a:t>
            </a:fld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3" name="2 - Θέση υποσέλιδου"/>
          <p:cNvSpPr>
            <a:spLocks noGrp="1"/>
          </p:cNvSpPr>
          <p:nvPr>
            <p:ph type="ftr" sz="quarter" idx="3"/>
          </p:nvPr>
        </p:nvSpPr>
        <p:spPr>
          <a:xfrm>
            <a:off x="5257800" y="459486"/>
            <a:ext cx="1325880" cy="3429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pPr algn="r" eaLnBrk="1" latinLnBrk="0" hangingPunct="1"/>
            <a:endParaRPr kumimoji="0" lang="en-US" sz="800" dirty="0">
              <a:solidFill>
                <a:schemeClr val="accent2"/>
              </a:solidFill>
            </a:endParaRPr>
          </a:p>
        </p:txBody>
      </p:sp>
      <p:sp>
        <p:nvSpPr>
          <p:cNvPr id="23" name="22 - Θέση αριθμού διαφάνειας"/>
          <p:cNvSpPr>
            <a:spLocks noGrp="1"/>
          </p:cNvSpPr>
          <p:nvPr>
            <p:ph type="sldNum" sz="quarter" idx="4"/>
          </p:nvPr>
        </p:nvSpPr>
        <p:spPr>
          <a:xfrm>
            <a:off x="8174736" y="1704"/>
            <a:ext cx="762000" cy="27432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algn="r">
              <a:lnSpc>
                <a:spcPct val="100000"/>
              </a:lnSpc>
            </a:pPr>
            <a:fld id="{6BECEF1D-7455-4014-B4A3-44788715881A}" type="slidenum">
              <a:rPr lang="el-GR" sz="1000" b="0" strike="noStrike" spc="-1" smtClean="0">
                <a:solidFill>
                  <a:srgbClr val="FFFFFF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27 - Ορθογώνιο"/>
          <p:cNvSpPr/>
          <p:nvPr/>
        </p:nvSpPr>
        <p:spPr>
          <a:xfrm>
            <a:off x="1" y="275116"/>
            <a:ext cx="9144000" cy="6330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28 - Ορθογώνιο"/>
          <p:cNvSpPr/>
          <p:nvPr/>
        </p:nvSpPr>
        <p:spPr>
          <a:xfrm>
            <a:off x="0" y="0"/>
            <a:ext cx="9144000" cy="232997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29 - Ορθογώνιο"/>
          <p:cNvSpPr/>
          <p:nvPr/>
        </p:nvSpPr>
        <p:spPr>
          <a:xfrm>
            <a:off x="1" y="231209"/>
            <a:ext cx="9144001" cy="6858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30 - Ορθογώνιο"/>
          <p:cNvSpPr/>
          <p:nvPr/>
        </p:nvSpPr>
        <p:spPr>
          <a:xfrm flipV="1">
            <a:off x="5410187" y="270187"/>
            <a:ext cx="3733819" cy="6831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31 - Ορθογώνιο"/>
          <p:cNvSpPr/>
          <p:nvPr/>
        </p:nvSpPr>
        <p:spPr>
          <a:xfrm flipV="1">
            <a:off x="5410205" y="330085"/>
            <a:ext cx="3733801" cy="135026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32 - Στρογγυλεμένο ορθογώνιο"/>
          <p:cNvSpPr/>
          <p:nvPr/>
        </p:nvSpPr>
        <p:spPr bwMode="white">
          <a:xfrm>
            <a:off x="5407339" y="373128"/>
            <a:ext cx="3063240" cy="20574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33 - Στρογγυλεμένο ορθογώνιο"/>
          <p:cNvSpPr/>
          <p:nvPr/>
        </p:nvSpPr>
        <p:spPr bwMode="white">
          <a:xfrm>
            <a:off x="7373646" y="441707"/>
            <a:ext cx="160020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34 - Ορθογώνιο"/>
          <p:cNvSpPr/>
          <p:nvPr/>
        </p:nvSpPr>
        <p:spPr bwMode="invGray">
          <a:xfrm>
            <a:off x="9084966" y="-1501"/>
            <a:ext cx="57626" cy="466344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35 - Ορθογώνιο"/>
          <p:cNvSpPr/>
          <p:nvPr/>
        </p:nvSpPr>
        <p:spPr bwMode="invGray">
          <a:xfrm>
            <a:off x="9044481" y="-1501"/>
            <a:ext cx="27432" cy="466344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36 - Ορθογώνιο"/>
          <p:cNvSpPr/>
          <p:nvPr/>
        </p:nvSpPr>
        <p:spPr bwMode="invGray">
          <a:xfrm>
            <a:off x="9025428" y="-1501"/>
            <a:ext cx="9144" cy="466344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37 - Ορθογώνιο"/>
          <p:cNvSpPr/>
          <p:nvPr/>
        </p:nvSpPr>
        <p:spPr bwMode="invGray">
          <a:xfrm>
            <a:off x="8975423" y="-1501"/>
            <a:ext cx="27432" cy="466344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38 - Ορθογώνιο"/>
          <p:cNvSpPr/>
          <p:nvPr/>
        </p:nvSpPr>
        <p:spPr bwMode="invGray">
          <a:xfrm>
            <a:off x="8915677" y="285"/>
            <a:ext cx="54864" cy="438912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39 - Ορθογώνιο"/>
          <p:cNvSpPr/>
          <p:nvPr/>
        </p:nvSpPr>
        <p:spPr bwMode="invGray">
          <a:xfrm>
            <a:off x="8873475" y="285"/>
            <a:ext cx="9144" cy="438912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- Θέση τίτλου"/>
          <p:cNvSpPr>
            <a:spLocks noGrp="1"/>
          </p:cNvSpPr>
          <p:nvPr>
            <p:ph type="title"/>
          </p:nvPr>
        </p:nvSpPr>
        <p:spPr>
          <a:xfrm>
            <a:off x="457200" y="857250"/>
            <a:ext cx="8229600" cy="8001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13" name="12 - Θέση κειμένου"/>
          <p:cNvSpPr>
            <a:spLocks noGrp="1"/>
          </p:cNvSpPr>
          <p:nvPr>
            <p:ph type="body" idx="1"/>
          </p:nvPr>
        </p:nvSpPr>
        <p:spPr>
          <a:xfrm>
            <a:off x="457200" y="1687068"/>
            <a:ext cx="8229600" cy="324383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kumimoji="0" lang="el-GR"/>
              <a:t>Δεύτερου επιπέδου</a:t>
            </a:r>
          </a:p>
          <a:p>
            <a:pPr lvl="2" eaLnBrk="1" latinLnBrk="0" hangingPunct="1"/>
            <a:r>
              <a:rPr kumimoji="0" lang="el-GR"/>
              <a:t>Τρίτου επιπέδου</a:t>
            </a:r>
          </a:p>
          <a:p>
            <a:pPr lvl="3" eaLnBrk="1" latinLnBrk="0" hangingPunct="1"/>
            <a:r>
              <a:rPr kumimoji="0" lang="el-GR"/>
              <a:t>Τέταρτου επιπέδου</a:t>
            </a:r>
          </a:p>
          <a:p>
            <a:pPr lvl="4" eaLnBrk="1" latinLnBrk="0" hangingPunct="1"/>
            <a:r>
              <a:rPr kumimoji="0" lang="el-GR"/>
              <a:t>Πέμπτου επιπέδου</a:t>
            </a:r>
            <a:endParaRPr kumimoji="0" lang="en-US"/>
          </a:p>
        </p:txBody>
      </p:sp>
      <p:sp>
        <p:nvSpPr>
          <p:cNvPr id="14" name="13 - Θέση ημερομηνίας"/>
          <p:cNvSpPr>
            <a:spLocks noGrp="1"/>
          </p:cNvSpPr>
          <p:nvPr>
            <p:ph type="dt" sz="half" idx="2"/>
          </p:nvPr>
        </p:nvSpPr>
        <p:spPr>
          <a:xfrm>
            <a:off x="6586536" y="459486"/>
            <a:ext cx="957264" cy="3429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pPr algn="l" eaLnBrk="1" latinLnBrk="0" hangingPunct="1"/>
            <a:fld id="{C3F416CD-67A3-4CF0-A210-F6AF31AC147F}" type="datetimeFigureOut">
              <a:rPr lang="en-US" smtClean="0"/>
              <a:pPr algn="l" eaLnBrk="1" latinLnBrk="0" hangingPunct="1"/>
              <a:t>3/26/2026</a:t>
            </a:fld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3" name="2 - Θέση υποσέλιδου"/>
          <p:cNvSpPr>
            <a:spLocks noGrp="1"/>
          </p:cNvSpPr>
          <p:nvPr>
            <p:ph type="ftr" sz="quarter" idx="3"/>
          </p:nvPr>
        </p:nvSpPr>
        <p:spPr>
          <a:xfrm>
            <a:off x="5257800" y="459486"/>
            <a:ext cx="1325880" cy="3429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pPr algn="r" eaLnBrk="1" latinLnBrk="0" hangingPunct="1"/>
            <a:endParaRPr kumimoji="0" lang="en-US" sz="800" dirty="0">
              <a:solidFill>
                <a:schemeClr val="accent2"/>
              </a:solidFill>
            </a:endParaRPr>
          </a:p>
        </p:txBody>
      </p:sp>
      <p:sp>
        <p:nvSpPr>
          <p:cNvPr id="23" name="22 - Θέση αριθμού διαφάνειας"/>
          <p:cNvSpPr>
            <a:spLocks noGrp="1"/>
          </p:cNvSpPr>
          <p:nvPr>
            <p:ph type="sldNum" sz="quarter" idx="4"/>
          </p:nvPr>
        </p:nvSpPr>
        <p:spPr>
          <a:xfrm>
            <a:off x="8174736" y="1704"/>
            <a:ext cx="762000" cy="27432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algn="r">
              <a:lnSpc>
                <a:spcPct val="100000"/>
              </a:lnSpc>
            </a:pPr>
            <a:fld id="{6BECEF1D-7455-4014-B4A3-44788715881A}" type="slidenum">
              <a:rPr lang="el-GR" sz="1000" b="0" strike="noStrike" spc="-1" smtClean="0">
                <a:solidFill>
                  <a:srgbClr val="FFFFFF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27 - Ορθογώνιο"/>
          <p:cNvSpPr/>
          <p:nvPr/>
        </p:nvSpPr>
        <p:spPr>
          <a:xfrm>
            <a:off x="1" y="275114"/>
            <a:ext cx="9144000" cy="6330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28 - Ορθογώνιο"/>
          <p:cNvSpPr/>
          <p:nvPr/>
        </p:nvSpPr>
        <p:spPr>
          <a:xfrm>
            <a:off x="0" y="0"/>
            <a:ext cx="9144000" cy="232997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29 - Ορθογώνιο"/>
          <p:cNvSpPr/>
          <p:nvPr/>
        </p:nvSpPr>
        <p:spPr>
          <a:xfrm>
            <a:off x="1" y="231207"/>
            <a:ext cx="9144001" cy="6858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30 - Ορθογώνιο"/>
          <p:cNvSpPr/>
          <p:nvPr/>
        </p:nvSpPr>
        <p:spPr>
          <a:xfrm flipV="1">
            <a:off x="5410183" y="270185"/>
            <a:ext cx="3733819" cy="68315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31 - Ορθογώνιο"/>
          <p:cNvSpPr/>
          <p:nvPr/>
        </p:nvSpPr>
        <p:spPr>
          <a:xfrm flipV="1">
            <a:off x="5410201" y="330085"/>
            <a:ext cx="3733801" cy="135026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32 - Στρογγυλεμένο ορθογώνιο"/>
          <p:cNvSpPr/>
          <p:nvPr/>
        </p:nvSpPr>
        <p:spPr bwMode="white">
          <a:xfrm>
            <a:off x="5407339" y="373128"/>
            <a:ext cx="3063240" cy="20574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33 - Στρογγυλεμένο ορθογώνιο"/>
          <p:cNvSpPr/>
          <p:nvPr/>
        </p:nvSpPr>
        <p:spPr bwMode="white">
          <a:xfrm>
            <a:off x="7373646" y="441707"/>
            <a:ext cx="160020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34 - Ορθογώνιο"/>
          <p:cNvSpPr/>
          <p:nvPr/>
        </p:nvSpPr>
        <p:spPr bwMode="invGray">
          <a:xfrm>
            <a:off x="9084966" y="-1501"/>
            <a:ext cx="57626" cy="466344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35 - Ορθογώνιο"/>
          <p:cNvSpPr/>
          <p:nvPr/>
        </p:nvSpPr>
        <p:spPr bwMode="invGray">
          <a:xfrm>
            <a:off x="9044481" y="-1501"/>
            <a:ext cx="27432" cy="466344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36 - Ορθογώνιο"/>
          <p:cNvSpPr/>
          <p:nvPr/>
        </p:nvSpPr>
        <p:spPr bwMode="invGray">
          <a:xfrm>
            <a:off x="9025428" y="-1501"/>
            <a:ext cx="9144" cy="466344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37 - Ορθογώνιο"/>
          <p:cNvSpPr/>
          <p:nvPr/>
        </p:nvSpPr>
        <p:spPr bwMode="invGray">
          <a:xfrm>
            <a:off x="8975423" y="-1501"/>
            <a:ext cx="27432" cy="466344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38 - Ορθογώνιο"/>
          <p:cNvSpPr/>
          <p:nvPr/>
        </p:nvSpPr>
        <p:spPr bwMode="invGray">
          <a:xfrm>
            <a:off x="8915677" y="285"/>
            <a:ext cx="54864" cy="438912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39 - Ορθογώνιο"/>
          <p:cNvSpPr/>
          <p:nvPr/>
        </p:nvSpPr>
        <p:spPr bwMode="invGray">
          <a:xfrm>
            <a:off x="8873475" y="285"/>
            <a:ext cx="9144" cy="438912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- Θέση τίτλου"/>
          <p:cNvSpPr>
            <a:spLocks noGrp="1"/>
          </p:cNvSpPr>
          <p:nvPr>
            <p:ph type="title"/>
          </p:nvPr>
        </p:nvSpPr>
        <p:spPr>
          <a:xfrm>
            <a:off x="457200" y="857250"/>
            <a:ext cx="8229600" cy="8001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l-GR"/>
              <a:t>Kλικ για επεξεργασία του τίτλου</a:t>
            </a:r>
            <a:endParaRPr kumimoji="0" lang="en-US"/>
          </a:p>
        </p:txBody>
      </p:sp>
      <p:sp>
        <p:nvSpPr>
          <p:cNvPr id="13" name="12 - Θέση κειμένου"/>
          <p:cNvSpPr>
            <a:spLocks noGrp="1"/>
          </p:cNvSpPr>
          <p:nvPr>
            <p:ph type="body" idx="1"/>
          </p:nvPr>
        </p:nvSpPr>
        <p:spPr>
          <a:xfrm>
            <a:off x="457200" y="1687068"/>
            <a:ext cx="8229600" cy="3243834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l-GR"/>
              <a:t>Kλικ για επεξεργασία των στυλ του υποδείγματος</a:t>
            </a:r>
          </a:p>
          <a:p>
            <a:pPr lvl="1" eaLnBrk="1" latinLnBrk="0" hangingPunct="1"/>
            <a:r>
              <a:rPr kumimoji="0" lang="el-GR"/>
              <a:t>Δεύτερου επιπέδου</a:t>
            </a:r>
          </a:p>
          <a:p>
            <a:pPr lvl="2" eaLnBrk="1" latinLnBrk="0" hangingPunct="1"/>
            <a:r>
              <a:rPr kumimoji="0" lang="el-GR"/>
              <a:t>Τρίτου επιπέδου</a:t>
            </a:r>
          </a:p>
          <a:p>
            <a:pPr lvl="3" eaLnBrk="1" latinLnBrk="0" hangingPunct="1"/>
            <a:r>
              <a:rPr kumimoji="0" lang="el-GR"/>
              <a:t>Τέταρτου επιπέδου</a:t>
            </a:r>
          </a:p>
          <a:p>
            <a:pPr lvl="4" eaLnBrk="1" latinLnBrk="0" hangingPunct="1"/>
            <a:r>
              <a:rPr kumimoji="0" lang="el-GR"/>
              <a:t>Πέμπτου επιπέδου</a:t>
            </a:r>
            <a:endParaRPr kumimoji="0" lang="en-US"/>
          </a:p>
        </p:txBody>
      </p:sp>
      <p:sp>
        <p:nvSpPr>
          <p:cNvPr id="14" name="13 - Θέση ημερομηνίας"/>
          <p:cNvSpPr>
            <a:spLocks noGrp="1"/>
          </p:cNvSpPr>
          <p:nvPr>
            <p:ph type="dt" sz="half" idx="2"/>
          </p:nvPr>
        </p:nvSpPr>
        <p:spPr>
          <a:xfrm>
            <a:off x="6586536" y="459486"/>
            <a:ext cx="957264" cy="3429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pPr algn="l" eaLnBrk="1" latinLnBrk="0" hangingPunct="1"/>
            <a:fld id="{C3F416CD-67A3-4CF0-A210-F6AF31AC147F}" type="datetimeFigureOut">
              <a:rPr lang="en-US" smtClean="0"/>
              <a:pPr algn="l" eaLnBrk="1" latinLnBrk="0" hangingPunct="1"/>
              <a:t>3/26/2026</a:t>
            </a:fld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3" name="2 - Θέση υποσέλιδου"/>
          <p:cNvSpPr>
            <a:spLocks noGrp="1"/>
          </p:cNvSpPr>
          <p:nvPr>
            <p:ph type="ftr" sz="quarter" idx="3"/>
          </p:nvPr>
        </p:nvSpPr>
        <p:spPr>
          <a:xfrm>
            <a:off x="5257800" y="459486"/>
            <a:ext cx="1325880" cy="3429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pPr algn="r" eaLnBrk="1" latinLnBrk="0" hangingPunct="1"/>
            <a:endParaRPr kumimoji="0" lang="en-US" sz="800" dirty="0">
              <a:solidFill>
                <a:schemeClr val="accent2"/>
              </a:solidFill>
            </a:endParaRPr>
          </a:p>
        </p:txBody>
      </p:sp>
      <p:sp>
        <p:nvSpPr>
          <p:cNvPr id="23" name="22 - Θέση αριθμού διαφάνειας"/>
          <p:cNvSpPr>
            <a:spLocks noGrp="1"/>
          </p:cNvSpPr>
          <p:nvPr>
            <p:ph type="sldNum" sz="quarter" idx="4"/>
          </p:nvPr>
        </p:nvSpPr>
        <p:spPr>
          <a:xfrm>
            <a:off x="8174736" y="1704"/>
            <a:ext cx="762000" cy="27432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algn="r">
              <a:lnSpc>
                <a:spcPct val="100000"/>
              </a:lnSpc>
            </a:pPr>
            <a:fld id="{6BECEF1D-7455-4014-B4A3-44788715881A}" type="slidenum">
              <a:rPr lang="el-GR" sz="1000" b="0" strike="noStrike" spc="-1" smtClean="0">
                <a:solidFill>
                  <a:srgbClr val="FFFFFF"/>
                </a:solidFill>
                <a:latin typeface="Proxima Nova"/>
                <a:ea typeface="Proxima Nova"/>
              </a:rPr>
              <a:pPr algn="r">
                <a:lnSpc>
                  <a:spcPct val="100000"/>
                </a:lnSpc>
              </a:pPr>
              <a:t>‹#›</a:t>
            </a:fld>
            <a:endParaRPr lang="el-GR" sz="10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1.emf"/><Relationship Id="rId5" Type="http://schemas.openxmlformats.org/officeDocument/2006/relationships/image" Target="../media/image30.emf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5.emf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Shape 1"/>
          <p:cNvSpPr txBox="1"/>
          <p:nvPr/>
        </p:nvSpPr>
        <p:spPr>
          <a:xfrm>
            <a:off x="510480" y="1257480"/>
            <a:ext cx="8122680" cy="15883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l-GR" sz="4800" spc="-1" dirty="0">
                <a:solidFill>
                  <a:srgbClr val="FFFFFF"/>
                </a:solidFill>
                <a:latin typeface="Proxima Nova"/>
              </a:rPr>
              <a:t>Βοηθητικό υλικό για εργασία σε </a:t>
            </a:r>
            <a:r>
              <a:rPr lang="en-US" sz="4800" spc="-1" dirty="0">
                <a:solidFill>
                  <a:srgbClr val="FFFFFF"/>
                </a:solidFill>
                <a:latin typeface="Proxima Nova"/>
              </a:rPr>
              <a:t>Transceivers </a:t>
            </a:r>
            <a:r>
              <a:rPr lang="el-GR" sz="4800" spc="-1" dirty="0">
                <a:solidFill>
                  <a:srgbClr val="FFFFFF"/>
                </a:solidFill>
                <a:latin typeface="Proxima Nova"/>
              </a:rPr>
              <a:t>με </a:t>
            </a:r>
            <a:r>
              <a:rPr lang="en-US" sz="4800" spc="-1" dirty="0">
                <a:solidFill>
                  <a:srgbClr val="FFFFFF"/>
                </a:solidFill>
                <a:latin typeface="Proxima Nova"/>
              </a:rPr>
              <a:t>SIMULINK</a:t>
            </a:r>
            <a:endParaRPr lang="el-GR" sz="4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Θέση περιεχομένου 5">
            <a:extLst>
              <a:ext uri="{FF2B5EF4-FFF2-40B4-BE49-F238E27FC236}">
                <a16:creationId xmlns:a16="http://schemas.microsoft.com/office/drawing/2014/main" id="{E91B1AC5-DABA-45B2-A5AC-AEB62242B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84283"/>
            <a:ext cx="8229600" cy="4210341"/>
          </a:xfrm>
        </p:spPr>
        <p:txBody>
          <a:bodyPr/>
          <a:lstStyle/>
          <a:p>
            <a:r>
              <a:rPr lang="el-GR" dirty="0">
                <a:latin typeface="Times New Roman" pitchFamily="18" charset="0"/>
                <a:cs typeface="Times New Roman" pitchFamily="18" charset="0"/>
              </a:rPr>
              <a:t>Η υλοποίηση του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40G 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γίνεται με χρήση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4x10G WDM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 σε ένα ζεύγος οπτικών ινών </a:t>
            </a:r>
          </a:p>
          <a:p>
            <a:r>
              <a:rPr lang="el-GR" dirty="0">
                <a:latin typeface="Times New Roman" pitchFamily="18" charset="0"/>
                <a:cs typeface="Times New Roman" pitchFamily="18" charset="0"/>
              </a:rPr>
              <a:t>Αντίστοιχα 100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G 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γίνεται με χρήση 4 Χ 25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l-GR" dirty="0">
                <a:latin typeface="Times New Roman" pitchFamily="18" charset="0"/>
                <a:cs typeface="Times New Roman" pitchFamily="18" charset="0"/>
              </a:rPr>
              <a:t> κοκ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8" name="Εικόνα 7" descr="Εικόνα που περιέχει στιγμιότυπο οθόνης, σχεδίαση&#10;&#10;Περιγραφή που δημιουργήθηκε αυτόματα">
            <a:extLst>
              <a:ext uri="{FF2B5EF4-FFF2-40B4-BE49-F238E27FC236}">
                <a16:creationId xmlns:a16="http://schemas.microsoft.com/office/drawing/2014/main" id="{35FBF87F-C076-4088-BE8E-BFDAD1798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799" y="2006949"/>
            <a:ext cx="5530895" cy="304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647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0E9750-1977-4C71-BBB9-71D5F1922F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27" y="664744"/>
            <a:ext cx="8333509" cy="422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250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- Ορθογώνιο"/>
          <p:cNvSpPr/>
          <p:nvPr/>
        </p:nvSpPr>
        <p:spPr>
          <a:xfrm>
            <a:off x="0" y="0"/>
            <a:ext cx="9144000" cy="5096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16" name="TextShape 1"/>
          <p:cNvSpPr txBox="1"/>
          <p:nvPr/>
        </p:nvSpPr>
        <p:spPr>
          <a:xfrm>
            <a:off x="349235" y="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l-GR" sz="2000" spc="-1" dirty="0">
                <a:solidFill>
                  <a:schemeClr val="bg1"/>
                </a:solidFill>
                <a:latin typeface="Proxima Nova"/>
                <a:ea typeface="Proxima Nova"/>
              </a:rPr>
              <a:t>Επισκόπηση των προτύπων </a:t>
            </a:r>
            <a:r>
              <a:rPr lang="el-GR" sz="2000" spc="-1" dirty="0" err="1">
                <a:solidFill>
                  <a:schemeClr val="bg1"/>
                </a:solidFill>
                <a:latin typeface="Proxima Nova"/>
                <a:ea typeface="Proxima Nova"/>
              </a:rPr>
              <a:t>Ethernet</a:t>
            </a:r>
            <a:r>
              <a:rPr lang="el-GR" sz="2000" spc="-1" dirty="0">
                <a:solidFill>
                  <a:schemeClr val="bg1"/>
                </a:solidFill>
                <a:latin typeface="Proxima Nova"/>
                <a:ea typeface="Proxima Nova"/>
              </a:rPr>
              <a:t> για τα σημερινά οπτικά καλώδια</a:t>
            </a:r>
            <a:endParaRPr lang="el-GR" sz="2000" spc="-1" dirty="0">
              <a:solidFill>
                <a:schemeClr val="bg1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spc="-1" dirty="0">
              <a:solidFill>
                <a:srgbClr val="202729"/>
              </a:solidFill>
              <a:latin typeface="Proxima Nova"/>
            </a:endParaRPr>
          </a:p>
          <a:p>
            <a:pPr>
              <a:lnSpc>
                <a:spcPct val="100000"/>
              </a:lnSpc>
            </a:pPr>
            <a:endParaRPr lang="en-US" sz="2000" b="0" strike="noStrike" spc="-1" dirty="0">
              <a:solidFill>
                <a:srgbClr val="202729"/>
              </a:solidFill>
              <a:latin typeface="Proxima Nova"/>
            </a:endParaRPr>
          </a:p>
          <a:p>
            <a:pPr>
              <a:lnSpc>
                <a:spcPct val="100000"/>
              </a:lnSpc>
            </a:pPr>
            <a:endParaRPr lang="el-GR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6" name="Picture 2" descr="800 Gigabit (Gbe) Ethernet Is on The Horizon - Versa Technology">
            <a:extLst>
              <a:ext uri="{FF2B5EF4-FFF2-40B4-BE49-F238E27FC236}">
                <a16:creationId xmlns:a16="http://schemas.microsoft.com/office/drawing/2014/main" id="{B3B34DA9-8F79-A06B-5987-4FEA550E9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4163" y="756699"/>
            <a:ext cx="5837837" cy="4139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Shape 3"/>
          <p:cNvSpPr txBox="1"/>
          <p:nvPr/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endParaRPr lang="el-GR" sz="1400" b="0" strike="noStrike" spc="-1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" name="11 - Ομάδα"/>
          <p:cNvGrpSpPr/>
          <p:nvPr/>
        </p:nvGrpSpPr>
        <p:grpSpPr>
          <a:xfrm>
            <a:off x="0" y="505236"/>
            <a:ext cx="4519534" cy="4638264"/>
            <a:chOff x="0" y="505236"/>
            <a:chExt cx="4519534" cy="4638264"/>
          </a:xfrm>
        </p:grpSpPr>
        <p:sp>
          <p:nvSpPr>
            <p:cNvPr id="8" name="7 - Ορθογώνιο"/>
            <p:cNvSpPr/>
            <p:nvPr/>
          </p:nvSpPr>
          <p:spPr>
            <a:xfrm>
              <a:off x="0" y="505236"/>
              <a:ext cx="4519534" cy="4638264"/>
            </a:xfrm>
            <a:prstGeom prst="rect">
              <a:avLst/>
            </a:prstGeom>
            <a:ln w="34925"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5" name="Εικόνα 214"/>
            <p:cNvPicPr/>
            <p:nvPr/>
          </p:nvPicPr>
          <p:blipFill>
            <a:blip r:embed="rId2" cstate="print"/>
            <a:stretch/>
          </p:blipFill>
          <p:spPr>
            <a:xfrm>
              <a:off x="233025" y="744212"/>
              <a:ext cx="4104000" cy="416376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3" name="12 - Ορθογώνιο"/>
          <p:cNvSpPr/>
          <p:nvPr/>
        </p:nvSpPr>
        <p:spPr>
          <a:xfrm>
            <a:off x="0" y="0"/>
            <a:ext cx="9144000" cy="5096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11" name="TextShape 1"/>
          <p:cNvSpPr txBox="1"/>
          <p:nvPr/>
        </p:nvSpPr>
        <p:spPr>
          <a:xfrm>
            <a:off x="259294" y="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l-GR" sz="2000" spc="-1" dirty="0">
                <a:solidFill>
                  <a:schemeClr val="bg1"/>
                </a:solidFill>
                <a:latin typeface="Proxima Nova"/>
                <a:ea typeface="Proxima Nova"/>
              </a:rPr>
              <a:t>Ε</a:t>
            </a:r>
            <a:r>
              <a:rPr lang="el-GR" sz="2000" b="0" strike="noStrike" spc="-1" dirty="0">
                <a:solidFill>
                  <a:schemeClr val="bg1"/>
                </a:solidFill>
                <a:latin typeface="Proxima Nova"/>
                <a:ea typeface="Proxima Nova"/>
              </a:rPr>
              <a:t>πισκόπηση των προτύπων </a:t>
            </a:r>
            <a:r>
              <a:rPr lang="el-GR" sz="2000" b="0" strike="noStrike" spc="-1" dirty="0" err="1">
                <a:solidFill>
                  <a:schemeClr val="bg1"/>
                </a:solidFill>
                <a:latin typeface="Proxima Nova"/>
                <a:ea typeface="Proxima Nova"/>
              </a:rPr>
              <a:t>Ethernet</a:t>
            </a:r>
            <a:r>
              <a:rPr lang="el-GR" sz="2000" b="0" strike="noStrike" spc="-1" dirty="0">
                <a:solidFill>
                  <a:schemeClr val="bg1"/>
                </a:solidFill>
                <a:latin typeface="Proxima Nova"/>
                <a:ea typeface="Proxima Nova"/>
              </a:rPr>
              <a:t> για τα σημερινά οπτικά καλώδια</a:t>
            </a:r>
            <a:endParaRPr lang="el-GR" sz="2000" b="0" strike="noStrike" spc="-1" dirty="0">
              <a:solidFill>
                <a:schemeClr val="bg1"/>
              </a:solidFill>
              <a:latin typeface="Arial"/>
            </a:endParaRPr>
          </a:p>
        </p:txBody>
      </p:sp>
      <p:pic>
        <p:nvPicPr>
          <p:cNvPr id="14" name="13 - Εικόνα"/>
          <p:cNvPicPr/>
          <p:nvPr/>
        </p:nvPicPr>
        <p:blipFill>
          <a:blip r:embed="rId3" cstate="print"/>
          <a:stretch/>
        </p:blipFill>
        <p:spPr>
          <a:xfrm>
            <a:off x="4537364" y="544089"/>
            <a:ext cx="4606636" cy="1984366"/>
          </a:xfrm>
          <a:prstGeom prst="rect">
            <a:avLst/>
          </a:prstGeom>
          <a:ln>
            <a:noFill/>
          </a:ln>
        </p:spPr>
      </p:pic>
      <p:pic>
        <p:nvPicPr>
          <p:cNvPr id="15" name="14 - Εικόνα"/>
          <p:cNvPicPr/>
          <p:nvPr/>
        </p:nvPicPr>
        <p:blipFill>
          <a:blip r:embed="rId4" cstate="print"/>
          <a:stretch/>
        </p:blipFill>
        <p:spPr>
          <a:xfrm>
            <a:off x="4509655" y="2415599"/>
            <a:ext cx="4606625" cy="874855"/>
          </a:xfrm>
          <a:prstGeom prst="rect">
            <a:avLst/>
          </a:prstGeom>
          <a:ln>
            <a:noFill/>
          </a:ln>
        </p:spPr>
      </p:pic>
      <p:pic>
        <p:nvPicPr>
          <p:cNvPr id="10" name="9 - Εικόνα"/>
          <p:cNvPicPr/>
          <p:nvPr/>
        </p:nvPicPr>
        <p:blipFill>
          <a:blip r:embed="rId5" cstate="print"/>
          <a:stretch/>
        </p:blipFill>
        <p:spPr>
          <a:xfrm>
            <a:off x="4532244" y="3300480"/>
            <a:ext cx="4611756" cy="18430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Shape 2"/>
          <p:cNvSpPr txBox="1"/>
          <p:nvPr/>
        </p:nvSpPr>
        <p:spPr>
          <a:xfrm>
            <a:off x="180970" y="474775"/>
            <a:ext cx="6282175" cy="20376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marL="285840" indent="-285480">
              <a:lnSpc>
                <a:spcPct val="115000"/>
              </a:lnSpc>
              <a:spcBef>
                <a:spcPts val="1599"/>
              </a:spcBef>
              <a:buClr>
                <a:srgbClr val="616161"/>
              </a:buClr>
            </a:pPr>
            <a:endParaRPr lang="el-GR" sz="1800" b="0" strike="noStrike" spc="-1" dirty="0">
              <a:solidFill>
                <a:srgbClr val="FF0000"/>
              </a:solidFill>
              <a:latin typeface="Arial"/>
            </a:endParaRPr>
          </a:p>
          <a:p>
            <a:pPr marL="285840" indent="-285480">
              <a:lnSpc>
                <a:spcPct val="115000"/>
              </a:lnSpc>
              <a:spcBef>
                <a:spcPts val="1599"/>
              </a:spcBef>
              <a:buClr>
                <a:srgbClr val="616161"/>
              </a:buClr>
              <a:buFont typeface="Proxima Nova"/>
              <a:buChar char="●"/>
            </a:pPr>
            <a:r>
              <a:rPr lang="el-GR" sz="1800" b="0" strike="noStrike" spc="-1" dirty="0">
                <a:solidFill>
                  <a:srgbClr val="616161"/>
                </a:solidFill>
                <a:latin typeface="Proxima Nova"/>
                <a:ea typeface="Proxima Nova"/>
              </a:rPr>
              <a:t>25 </a:t>
            </a:r>
            <a:r>
              <a:rPr lang="el-GR" sz="1800" b="0" strike="noStrike" spc="-1" dirty="0" err="1">
                <a:solidFill>
                  <a:srgbClr val="616161"/>
                </a:solidFill>
                <a:latin typeface="Proxima Nova"/>
                <a:ea typeface="Proxima Nova"/>
              </a:rPr>
              <a:t>Gb</a:t>
            </a:r>
            <a:r>
              <a:rPr lang="el-GR" sz="1800" b="0" strike="noStrike" spc="-1" dirty="0">
                <a:solidFill>
                  <a:srgbClr val="616161"/>
                </a:solidFill>
                <a:latin typeface="Proxima Nova"/>
                <a:ea typeface="Proxima Nova"/>
              </a:rPr>
              <a:t>, 50 </a:t>
            </a:r>
            <a:r>
              <a:rPr lang="el-GR" sz="1800" b="0" strike="noStrike" spc="-1" dirty="0" err="1">
                <a:solidFill>
                  <a:srgbClr val="616161"/>
                </a:solidFill>
                <a:latin typeface="Proxima Nova"/>
                <a:ea typeface="Proxima Nova"/>
              </a:rPr>
              <a:t>Gb</a:t>
            </a:r>
            <a:r>
              <a:rPr lang="el-GR" sz="1800" b="0" strike="noStrike" spc="-1" dirty="0">
                <a:solidFill>
                  <a:srgbClr val="616161"/>
                </a:solidFill>
                <a:latin typeface="Proxima Nova"/>
                <a:ea typeface="Proxima Nova"/>
              </a:rPr>
              <a:t>, 100Gb, 200 </a:t>
            </a:r>
            <a:r>
              <a:rPr lang="el-GR" sz="1800" b="0" strike="noStrike" spc="-1" dirty="0" err="1">
                <a:solidFill>
                  <a:srgbClr val="616161"/>
                </a:solidFill>
                <a:latin typeface="Proxima Nova"/>
                <a:ea typeface="Proxima Nova"/>
              </a:rPr>
              <a:t>Gb</a:t>
            </a:r>
            <a:r>
              <a:rPr lang="el-GR" sz="1800" b="0" strike="noStrike" spc="-1" dirty="0">
                <a:solidFill>
                  <a:srgbClr val="616161"/>
                </a:solidFill>
                <a:latin typeface="Proxima Nova"/>
                <a:ea typeface="Proxima Nova"/>
              </a:rPr>
              <a:t>, </a:t>
            </a:r>
            <a:r>
              <a:rPr lang="el-GR" spc="-1" dirty="0">
                <a:solidFill>
                  <a:srgbClr val="616161"/>
                </a:solidFill>
                <a:latin typeface="Proxima Nova"/>
                <a:ea typeface="Proxima Nova"/>
              </a:rPr>
              <a:t>400 </a:t>
            </a:r>
            <a:r>
              <a:rPr lang="el-GR" spc="-1" dirty="0" err="1">
                <a:solidFill>
                  <a:srgbClr val="616161"/>
                </a:solidFill>
                <a:latin typeface="Proxima Nova"/>
                <a:ea typeface="Proxima Nova"/>
              </a:rPr>
              <a:t>Gb</a:t>
            </a:r>
            <a:r>
              <a:rPr lang="el-GR" spc="-1" dirty="0">
                <a:solidFill>
                  <a:srgbClr val="616161"/>
                </a:solidFill>
                <a:latin typeface="Proxima Nova"/>
                <a:ea typeface="Proxima Nova"/>
              </a:rPr>
              <a:t> </a:t>
            </a:r>
            <a:r>
              <a:rPr lang="el-GR" sz="1800" b="0" strike="noStrike" spc="-1" dirty="0" err="1">
                <a:solidFill>
                  <a:srgbClr val="616161"/>
                </a:solidFill>
                <a:latin typeface="Proxima Nova"/>
                <a:ea typeface="Proxima Nova"/>
              </a:rPr>
              <a:t>Ethernet</a:t>
            </a:r>
            <a:endParaRPr lang="el-GR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15000"/>
              </a:lnSpc>
              <a:spcBef>
                <a:spcPts val="1599"/>
              </a:spcBef>
              <a:buClr>
                <a:srgbClr val="616161"/>
              </a:buClr>
              <a:buFont typeface="Proxima Nova"/>
              <a:buChar char="●"/>
            </a:pPr>
            <a:r>
              <a:rPr lang="el-GR" sz="1800" b="0" u="sng" strike="noStrike" spc="-1" dirty="0">
                <a:solidFill>
                  <a:schemeClr val="accent3"/>
                </a:solidFill>
                <a:latin typeface="Proxima Nova"/>
                <a:ea typeface="Proxima Nova"/>
              </a:rPr>
              <a:t>Μήκη κύματος:</a:t>
            </a:r>
            <a:endParaRPr lang="el-GR" sz="1800" b="0" u="sng" strike="noStrike" spc="-1" dirty="0">
              <a:solidFill>
                <a:schemeClr val="accent3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endParaRPr lang="el-GR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endParaRPr lang="el-GR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endParaRPr lang="el-GR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endParaRPr lang="el-GR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endParaRPr lang="el-GR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spcAft>
                <a:spcPts val="1599"/>
              </a:spcAft>
            </a:pPr>
            <a:endParaRPr lang="el-GR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" name="12 - Ομάδα"/>
          <p:cNvGrpSpPr/>
          <p:nvPr/>
        </p:nvGrpSpPr>
        <p:grpSpPr>
          <a:xfrm>
            <a:off x="2449245" y="1647864"/>
            <a:ext cx="5223164" cy="3158582"/>
            <a:chOff x="0" y="2230582"/>
            <a:chExt cx="4675909" cy="2912917"/>
          </a:xfrm>
        </p:grpSpPr>
        <p:sp>
          <p:nvSpPr>
            <p:cNvPr id="8" name="7 - Ορθογώνιο"/>
            <p:cNvSpPr/>
            <p:nvPr/>
          </p:nvSpPr>
          <p:spPr>
            <a:xfrm>
              <a:off x="0" y="2230582"/>
              <a:ext cx="4675909" cy="2912917"/>
            </a:xfrm>
            <a:prstGeom prst="rect">
              <a:avLst/>
            </a:prstGeom>
            <a:ln w="34925"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0" name="Εικόνα 1"/>
            <p:cNvPicPr/>
            <p:nvPr/>
          </p:nvPicPr>
          <p:blipFill>
            <a:blip r:embed="rId2" cstate="print"/>
            <a:stretch/>
          </p:blipFill>
          <p:spPr>
            <a:xfrm>
              <a:off x="120363" y="2378024"/>
              <a:ext cx="4410073" cy="2616540"/>
            </a:xfrm>
            <a:prstGeom prst="rect">
              <a:avLst/>
            </a:prstGeom>
            <a:ln/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</p:pic>
      </p:grpSp>
      <p:sp>
        <p:nvSpPr>
          <p:cNvPr id="11" name="10 - Ορθογώνιο"/>
          <p:cNvSpPr/>
          <p:nvPr/>
        </p:nvSpPr>
        <p:spPr>
          <a:xfrm>
            <a:off x="0" y="0"/>
            <a:ext cx="9144000" cy="5096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07" name="TextShape 1"/>
          <p:cNvSpPr txBox="1"/>
          <p:nvPr/>
        </p:nvSpPr>
        <p:spPr>
          <a:xfrm>
            <a:off x="361552" y="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l-GR" sz="2000" spc="-1" dirty="0">
                <a:solidFill>
                  <a:schemeClr val="bg1"/>
                </a:solidFill>
                <a:latin typeface="Proxima Nova"/>
                <a:ea typeface="Proxima Nova"/>
              </a:rPr>
              <a:t>Επισκόπηση των προτύπων </a:t>
            </a:r>
            <a:r>
              <a:rPr lang="el-GR" sz="2000" spc="-1" dirty="0" err="1">
                <a:solidFill>
                  <a:schemeClr val="bg1"/>
                </a:solidFill>
                <a:latin typeface="Proxima Nova"/>
                <a:ea typeface="Proxima Nova"/>
              </a:rPr>
              <a:t>Ethernet</a:t>
            </a:r>
            <a:r>
              <a:rPr lang="el-GR" sz="2000" spc="-1" dirty="0">
                <a:solidFill>
                  <a:schemeClr val="bg1"/>
                </a:solidFill>
                <a:latin typeface="Proxima Nova"/>
                <a:ea typeface="Proxima Nova"/>
              </a:rPr>
              <a:t> για τα σημερινά οπτικά καλώδια</a:t>
            </a:r>
            <a:endParaRPr lang="el-GR" sz="20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Θέση περιεχομένου 4" descr="Εικόνα που περιέχει στιγμιότυπο οθόνης, οθόνη&#10;&#10;Περιγραφή που δημιουργήθηκε αυτόματα">
            <a:extLst>
              <a:ext uri="{FF2B5EF4-FFF2-40B4-BE49-F238E27FC236}">
                <a16:creationId xmlns:a16="http://schemas.microsoft.com/office/drawing/2014/main" id="{98C71A2F-F284-4AB8-BC10-BE10341C45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5165" y="572400"/>
            <a:ext cx="8229600" cy="4493171"/>
          </a:xfrm>
        </p:spPr>
      </p:pic>
      <p:sp>
        <p:nvSpPr>
          <p:cNvPr id="3" name="TextShape 1">
            <a:extLst>
              <a:ext uri="{FF2B5EF4-FFF2-40B4-BE49-F238E27FC236}">
                <a16:creationId xmlns:a16="http://schemas.microsoft.com/office/drawing/2014/main" id="{C7874CE3-A237-4CA9-96EB-496B22BC73A1}"/>
              </a:ext>
            </a:extLst>
          </p:cNvPr>
          <p:cNvSpPr txBox="1"/>
          <p:nvPr/>
        </p:nvSpPr>
        <p:spPr>
          <a:xfrm>
            <a:off x="-282667" y="-133814"/>
            <a:ext cx="9292852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l-GR" sz="2000" spc="-1" dirty="0">
                <a:solidFill>
                  <a:schemeClr val="bg1"/>
                </a:solidFill>
                <a:latin typeface="Proxima Nova"/>
                <a:ea typeface="Proxima Nova"/>
              </a:rPr>
              <a:t>Επισκόπηση των προτύπων </a:t>
            </a:r>
            <a:r>
              <a:rPr lang="el-GR" sz="2000" spc="-1" dirty="0" err="1">
                <a:solidFill>
                  <a:schemeClr val="bg1"/>
                </a:solidFill>
                <a:latin typeface="Proxima Nova"/>
                <a:ea typeface="Proxima Nova"/>
              </a:rPr>
              <a:t>Ethernet</a:t>
            </a:r>
            <a:r>
              <a:rPr lang="el-GR" sz="2000" spc="-1" dirty="0">
                <a:solidFill>
                  <a:schemeClr val="bg1"/>
                </a:solidFill>
                <a:latin typeface="Proxima Nova"/>
                <a:ea typeface="Proxima Nova"/>
              </a:rPr>
              <a:t> για τα σημερινά </a:t>
            </a:r>
            <a:r>
              <a:rPr lang="en-US" sz="2000" spc="-1" dirty="0">
                <a:solidFill>
                  <a:schemeClr val="bg1"/>
                </a:solidFill>
                <a:latin typeface="Proxima Nova"/>
                <a:ea typeface="Proxima Nova"/>
              </a:rPr>
              <a:t>400G </a:t>
            </a:r>
            <a:r>
              <a:rPr lang="el-GR" sz="2000" spc="-1" dirty="0">
                <a:solidFill>
                  <a:schemeClr val="bg1"/>
                </a:solidFill>
                <a:latin typeface="Proxima Nova"/>
                <a:ea typeface="Proxima Nova"/>
              </a:rPr>
              <a:t>οπτικά καλώδια</a:t>
            </a:r>
            <a:endParaRPr lang="el-GR" sz="2000" spc="-1" dirty="0">
              <a:solidFill>
                <a:schemeClr val="bg1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spc="-1" dirty="0">
              <a:solidFill>
                <a:srgbClr val="202729"/>
              </a:solidFill>
              <a:latin typeface="Proxima Nova"/>
            </a:endParaRPr>
          </a:p>
          <a:p>
            <a:pPr>
              <a:lnSpc>
                <a:spcPct val="100000"/>
              </a:lnSpc>
            </a:pPr>
            <a:endParaRPr lang="en-US" sz="2000" b="0" strike="noStrike" spc="-1" dirty="0">
              <a:solidFill>
                <a:srgbClr val="202729"/>
              </a:solidFill>
              <a:latin typeface="Proxima Nova"/>
            </a:endParaRPr>
          </a:p>
          <a:p>
            <a:pPr>
              <a:lnSpc>
                <a:spcPct val="100000"/>
              </a:lnSpc>
            </a:pPr>
            <a:endParaRPr lang="el-GR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6998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- Ορθογώνιο"/>
          <p:cNvSpPr/>
          <p:nvPr/>
        </p:nvSpPr>
        <p:spPr>
          <a:xfrm>
            <a:off x="0" y="502170"/>
            <a:ext cx="9143999" cy="4641330"/>
          </a:xfrm>
          <a:prstGeom prst="rect">
            <a:avLst/>
          </a:prstGeom>
          <a:ln w="3492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0" name="CustomShape 1"/>
          <p:cNvSpPr/>
          <p:nvPr/>
        </p:nvSpPr>
        <p:spPr>
          <a:xfrm>
            <a:off x="311760" y="1152360"/>
            <a:ext cx="3998880" cy="3415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noAutofit/>
          </a:bodyPr>
          <a:lstStyle/>
          <a:p>
            <a:pPr>
              <a:lnSpc>
                <a:spcPct val="115000"/>
              </a:lnSpc>
            </a:pPr>
            <a:endParaRPr lang="el-GR" sz="1800" b="0" strike="noStrike" spc="-1">
              <a:latin typeface="Arial"/>
            </a:endParaRPr>
          </a:p>
          <a:p>
            <a:pPr>
              <a:lnSpc>
                <a:spcPct val="115000"/>
              </a:lnSpc>
            </a:pPr>
            <a:endParaRPr lang="el-GR" sz="1800" b="0" strike="noStrike" spc="-1">
              <a:latin typeface="Arial"/>
            </a:endParaRPr>
          </a:p>
          <a:p>
            <a:pPr>
              <a:lnSpc>
                <a:spcPct val="115000"/>
              </a:lnSpc>
            </a:pPr>
            <a:endParaRPr lang="el-GR" sz="1800" b="0" strike="noStrike" spc="-1">
              <a:latin typeface="Arial"/>
            </a:endParaRPr>
          </a:p>
        </p:txBody>
      </p:sp>
      <p:sp>
        <p:nvSpPr>
          <p:cNvPr id="311" name="CustomShape 2"/>
          <p:cNvSpPr/>
          <p:nvPr/>
        </p:nvSpPr>
        <p:spPr>
          <a:xfrm>
            <a:off x="4832280" y="1152360"/>
            <a:ext cx="3998880" cy="3415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2" name="CustomShape 3"/>
          <p:cNvSpPr/>
          <p:nvPr/>
        </p:nvSpPr>
        <p:spPr>
          <a:xfrm>
            <a:off x="0" y="0"/>
            <a:ext cx="9143280" cy="509040"/>
          </a:xfrm>
          <a:prstGeom prst="rect">
            <a:avLst/>
          </a:prstGeom>
          <a:solidFill>
            <a:schemeClr val="tx1"/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3" name="CustomShape 4"/>
          <p:cNvSpPr/>
          <p:nvPr/>
        </p:nvSpPr>
        <p:spPr>
          <a:xfrm>
            <a:off x="259200" y="0"/>
            <a:ext cx="8519400" cy="5716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91440" rIns="90000" bIns="9144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l-GR" sz="2000" b="0" strike="noStrike" spc="-1">
                <a:solidFill>
                  <a:srgbClr val="FFFFFF"/>
                </a:solidFill>
                <a:latin typeface="Proxima Nova"/>
                <a:ea typeface="Proxima Nova"/>
              </a:rPr>
              <a:t>Επισκόπηση των προτύπων Ethernet για τα σημερινά οπτικά καλώδια</a:t>
            </a:r>
            <a:endParaRPr lang="el-GR" sz="2000" b="0" strike="noStrike" spc="-1">
              <a:latin typeface="Arial"/>
            </a:endParaRPr>
          </a:p>
        </p:txBody>
      </p:sp>
      <p:grpSp>
        <p:nvGrpSpPr>
          <p:cNvPr id="16" name="15 - Ομάδα"/>
          <p:cNvGrpSpPr/>
          <p:nvPr/>
        </p:nvGrpSpPr>
        <p:grpSpPr>
          <a:xfrm>
            <a:off x="191915" y="1221609"/>
            <a:ext cx="4141545" cy="3366293"/>
            <a:chOff x="207818" y="665018"/>
            <a:chExt cx="3893127" cy="2902527"/>
          </a:xfrm>
        </p:grpSpPr>
        <p:sp>
          <p:nvSpPr>
            <p:cNvPr id="10" name="9 - Ορθογώνιο"/>
            <p:cNvSpPr/>
            <p:nvPr/>
          </p:nvSpPr>
          <p:spPr>
            <a:xfrm>
              <a:off x="207818" y="665018"/>
              <a:ext cx="3893127" cy="290252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5" name="314 - Εικόνα"/>
            <p:cNvPicPr/>
            <p:nvPr/>
          </p:nvPicPr>
          <p:blipFill>
            <a:blip r:embed="rId3" cstate="print"/>
            <a:stretch/>
          </p:blipFill>
          <p:spPr>
            <a:xfrm>
              <a:off x="319397" y="782345"/>
              <a:ext cx="3687840" cy="2681280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3" name="12 - Ομάδα"/>
          <p:cNvGrpSpPr/>
          <p:nvPr/>
        </p:nvGrpSpPr>
        <p:grpSpPr>
          <a:xfrm>
            <a:off x="4524293" y="692726"/>
            <a:ext cx="4467308" cy="2487796"/>
            <a:chOff x="5250873" y="692726"/>
            <a:chExt cx="3740727" cy="2175165"/>
          </a:xfrm>
        </p:grpSpPr>
        <p:sp>
          <p:nvSpPr>
            <p:cNvPr id="11" name="10 - Ορθογώνιο"/>
            <p:cNvSpPr/>
            <p:nvPr/>
          </p:nvSpPr>
          <p:spPr>
            <a:xfrm>
              <a:off x="5250873" y="692726"/>
              <a:ext cx="3740727" cy="2175165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6" name="5 - Εικόνα" descr="nrz and pam4 encoding"/>
            <p:cNvPicPr/>
            <p:nvPr/>
          </p:nvPicPr>
          <p:blipFill>
            <a:blip r:embed="rId4" cstate="print"/>
            <a:stretch/>
          </p:blipFill>
          <p:spPr>
            <a:xfrm>
              <a:off x="5400000" y="810720"/>
              <a:ext cx="3456000" cy="1925280"/>
            </a:xfrm>
            <a:prstGeom prst="rect">
              <a:avLst/>
            </a:prstGeom>
            <a:ln w="9360">
              <a:noFill/>
            </a:ln>
          </p:spPr>
        </p:pic>
      </p:grpSp>
      <p:grpSp>
        <p:nvGrpSpPr>
          <p:cNvPr id="17" name="16 - Ομάδα"/>
          <p:cNvGrpSpPr/>
          <p:nvPr/>
        </p:nvGrpSpPr>
        <p:grpSpPr>
          <a:xfrm>
            <a:off x="5613621" y="3315694"/>
            <a:ext cx="2323047" cy="1684169"/>
            <a:chOff x="6477000" y="3124199"/>
            <a:chExt cx="1690255" cy="1565563"/>
          </a:xfrm>
        </p:grpSpPr>
        <p:sp>
          <p:nvSpPr>
            <p:cNvPr id="14" name="13 - Ορθογώνιο"/>
            <p:cNvSpPr/>
            <p:nvPr/>
          </p:nvSpPr>
          <p:spPr>
            <a:xfrm>
              <a:off x="6477000" y="3124199"/>
              <a:ext cx="1690255" cy="156556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4" name="313 - Εικόνα"/>
            <p:cNvPicPr/>
            <p:nvPr/>
          </p:nvPicPr>
          <p:blipFill>
            <a:blip r:embed="rId5" cstate="print"/>
            <a:stretch/>
          </p:blipFill>
          <p:spPr>
            <a:xfrm>
              <a:off x="6696360" y="3291480"/>
              <a:ext cx="1295640" cy="1276200"/>
            </a:xfrm>
            <a:prstGeom prst="rect">
              <a:avLst/>
            </a:prstGeom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- Ορθογώνιο"/>
          <p:cNvSpPr/>
          <p:nvPr/>
        </p:nvSpPr>
        <p:spPr>
          <a:xfrm>
            <a:off x="0" y="502170"/>
            <a:ext cx="9143999" cy="4641330"/>
          </a:xfrm>
          <a:prstGeom prst="rect">
            <a:avLst/>
          </a:prstGeom>
          <a:ln w="3492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6 - Ορθογώνιο"/>
          <p:cNvSpPr/>
          <p:nvPr/>
        </p:nvSpPr>
        <p:spPr>
          <a:xfrm>
            <a:off x="0" y="0"/>
            <a:ext cx="9144000" cy="5096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6" name="TextShape 1"/>
          <p:cNvSpPr txBox="1"/>
          <p:nvPr/>
        </p:nvSpPr>
        <p:spPr>
          <a:xfrm>
            <a:off x="349235" y="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l-GR" sz="2000" spc="-1" dirty="0">
                <a:solidFill>
                  <a:schemeClr val="bg1"/>
                </a:solidFill>
                <a:latin typeface="Proxima Nova"/>
                <a:ea typeface="Proxima Nova"/>
              </a:rPr>
              <a:t>Επισκόπηση των προτύπων </a:t>
            </a:r>
            <a:r>
              <a:rPr lang="el-GR" sz="2000" spc="-1" dirty="0" err="1">
                <a:solidFill>
                  <a:schemeClr val="bg1"/>
                </a:solidFill>
                <a:latin typeface="Proxima Nova"/>
                <a:ea typeface="Proxima Nova"/>
              </a:rPr>
              <a:t>Ethernet</a:t>
            </a:r>
            <a:r>
              <a:rPr lang="el-GR" sz="2000" spc="-1" dirty="0">
                <a:solidFill>
                  <a:schemeClr val="bg1"/>
                </a:solidFill>
                <a:latin typeface="Proxima Nova"/>
                <a:ea typeface="Proxima Nova"/>
              </a:rPr>
              <a:t> για τα σημερινά οπτικά καλώδια</a:t>
            </a:r>
            <a:endParaRPr lang="el-GR" sz="2000" spc="-1" dirty="0">
              <a:solidFill>
                <a:schemeClr val="bg1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000" spc="-1" dirty="0">
              <a:solidFill>
                <a:srgbClr val="202729"/>
              </a:solidFill>
              <a:latin typeface="Proxima Nova"/>
            </a:endParaRPr>
          </a:p>
          <a:p>
            <a:pPr>
              <a:lnSpc>
                <a:spcPct val="100000"/>
              </a:lnSpc>
            </a:pPr>
            <a:endParaRPr lang="en-US" sz="2000" b="0" strike="noStrike" spc="-1" dirty="0">
              <a:solidFill>
                <a:srgbClr val="202729"/>
              </a:solidFill>
              <a:latin typeface="Proxima Nova"/>
            </a:endParaRPr>
          </a:p>
          <a:p>
            <a:pPr>
              <a:lnSpc>
                <a:spcPct val="100000"/>
              </a:lnSpc>
            </a:pPr>
            <a:endParaRPr lang="el-GR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" name="10 - Ομάδα"/>
          <p:cNvGrpSpPr/>
          <p:nvPr/>
        </p:nvGrpSpPr>
        <p:grpSpPr>
          <a:xfrm>
            <a:off x="111319" y="596349"/>
            <a:ext cx="5701084" cy="4547152"/>
            <a:chOff x="111319" y="596349"/>
            <a:chExt cx="4540194" cy="4547152"/>
          </a:xfrm>
        </p:grpSpPr>
        <p:sp>
          <p:nvSpPr>
            <p:cNvPr id="8" name="7 - Ορθογώνιο"/>
            <p:cNvSpPr/>
            <p:nvPr/>
          </p:nvSpPr>
          <p:spPr>
            <a:xfrm>
              <a:off x="111319" y="596349"/>
              <a:ext cx="4540194" cy="454715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9" name="Εικόνα 4"/>
            <p:cNvPicPr/>
            <p:nvPr/>
          </p:nvPicPr>
          <p:blipFill>
            <a:blip r:embed="rId2" cstate="print"/>
            <a:stretch/>
          </p:blipFill>
          <p:spPr>
            <a:xfrm>
              <a:off x="234452" y="732388"/>
              <a:ext cx="4285261" cy="4309613"/>
            </a:xfrm>
            <a:prstGeom prst="rect">
              <a:avLst/>
            </a:prstGeom>
            <a:ln>
              <a:noFill/>
            </a:ln>
          </p:spPr>
        </p:pic>
      </p:grpSp>
      <p:grpSp>
        <p:nvGrpSpPr>
          <p:cNvPr id="14" name="13 - Ομάδα"/>
          <p:cNvGrpSpPr/>
          <p:nvPr/>
        </p:nvGrpSpPr>
        <p:grpSpPr>
          <a:xfrm>
            <a:off x="5953323" y="894011"/>
            <a:ext cx="3069203" cy="3831898"/>
            <a:chOff x="5971429" y="604300"/>
            <a:chExt cx="3069203" cy="3831898"/>
          </a:xfrm>
        </p:grpSpPr>
        <p:sp>
          <p:nvSpPr>
            <p:cNvPr id="10" name="9 - Ορθογώνιο"/>
            <p:cNvSpPr/>
            <p:nvPr/>
          </p:nvSpPr>
          <p:spPr>
            <a:xfrm>
              <a:off x="5971429" y="604300"/>
              <a:ext cx="3069203" cy="383189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12 - Εικόνα" descr="1.PN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9775" y="733332"/>
              <a:ext cx="2864329" cy="3621386"/>
            </a:xfrm>
            <a:prstGeom prst="rect">
              <a:avLst/>
            </a:prstGeom>
          </p:spPr>
        </p:pic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8E4EE746-24DC-4123-A516-9F6E0989B772}"/>
              </a:ext>
            </a:extLst>
          </p:cNvPr>
          <p:cNvSpPr txBox="1"/>
          <p:nvPr/>
        </p:nvSpPr>
        <p:spPr>
          <a:xfrm>
            <a:off x="510480" y="1257480"/>
            <a:ext cx="8122680" cy="15883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l-GR" sz="4800" spc="-1" dirty="0">
                <a:latin typeface="Proxima Nova"/>
              </a:rPr>
              <a:t>Υλοποίηση με </a:t>
            </a:r>
            <a:r>
              <a:rPr lang="en-US" sz="4800" spc="-1" dirty="0">
                <a:latin typeface="Proxima Nova"/>
              </a:rPr>
              <a:t>SIMULINK</a:t>
            </a:r>
            <a:r>
              <a:rPr lang="el-GR" sz="4800" spc="-1" dirty="0">
                <a:latin typeface="Proxima Nova"/>
              </a:rPr>
              <a:t> – ερώτημα 1</a:t>
            </a:r>
            <a:endParaRPr lang="el-GR" sz="4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8417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1683" name="Rectangle 3"/>
          <p:cNvSpPr>
            <a:spLocks noChangeArrowheads="1"/>
          </p:cNvSpPr>
          <p:nvPr/>
        </p:nvSpPr>
        <p:spPr bwMode="auto">
          <a:xfrm>
            <a:off x="685800" y="7429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1685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1686" name="Rectangle 6"/>
          <p:cNvSpPr>
            <a:spLocks noChangeArrowheads="1"/>
          </p:cNvSpPr>
          <p:nvPr/>
        </p:nvSpPr>
        <p:spPr bwMode="auto">
          <a:xfrm>
            <a:off x="685800" y="7620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1688" name="Rectangle 8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1689" name="Rectangle 9"/>
          <p:cNvSpPr>
            <a:spLocks noChangeArrowheads="1"/>
          </p:cNvSpPr>
          <p:nvPr/>
        </p:nvSpPr>
        <p:spPr bwMode="auto">
          <a:xfrm>
            <a:off x="685800" y="7175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1691" name="Rectangle 1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1692" name="Rectangle 12"/>
          <p:cNvSpPr>
            <a:spLocks noChangeArrowheads="1"/>
          </p:cNvSpPr>
          <p:nvPr/>
        </p:nvSpPr>
        <p:spPr bwMode="auto">
          <a:xfrm>
            <a:off x="685800" y="6858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1694" name="Rectangle 1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1695" name="Rectangle 15"/>
          <p:cNvSpPr>
            <a:spLocks noChangeArrowheads="1"/>
          </p:cNvSpPr>
          <p:nvPr/>
        </p:nvSpPr>
        <p:spPr bwMode="auto">
          <a:xfrm>
            <a:off x="685800" y="8255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27 - Ορθογώνιο"/>
          <p:cNvSpPr/>
          <p:nvPr/>
        </p:nvSpPr>
        <p:spPr>
          <a:xfrm>
            <a:off x="1289154" y="1725742"/>
            <a:ext cx="6243403" cy="1999315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26 - Ορθογώνιο"/>
          <p:cNvSpPr/>
          <p:nvPr/>
        </p:nvSpPr>
        <p:spPr>
          <a:xfrm>
            <a:off x="0" y="0"/>
            <a:ext cx="9144000" cy="5096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21" name="TextShape 1"/>
          <p:cNvSpPr txBox="1"/>
          <p:nvPr/>
        </p:nvSpPr>
        <p:spPr>
          <a:xfrm>
            <a:off x="244304" y="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l-GR" sz="2000" b="0" strike="noStrike" spc="-1" dirty="0">
                <a:solidFill>
                  <a:schemeClr val="bg1"/>
                </a:solidFill>
                <a:latin typeface="Proxima Nova"/>
                <a:ea typeface="Proxima Nova"/>
              </a:rPr>
              <a:t>ΤΥΠΟΛΟΓΙΟ</a:t>
            </a:r>
            <a:endParaRPr lang="el-GR" sz="2000" b="0" strike="noStrike" spc="-1" dirty="0">
              <a:solidFill>
                <a:schemeClr val="bg1"/>
              </a:solidFill>
              <a:latin typeface="Arial"/>
            </a:endParaRPr>
          </a:p>
        </p:txBody>
      </p:sp>
      <p:graphicFrame>
        <p:nvGraphicFramePr>
          <p:cNvPr id="10" name="9 - Πίνακας"/>
          <p:cNvGraphicFramePr>
            <a:graphicFrameLocks noGrp="1"/>
          </p:cNvGraphicFramePr>
          <p:nvPr/>
        </p:nvGraphicFramePr>
        <p:xfrm>
          <a:off x="1461540" y="1873769"/>
          <a:ext cx="5891136" cy="166460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{0505E3EF-67EA-436B-97B2-0124C06EBD24}</a:tableStyleId>
              </a:tblPr>
              <a:tblGrid>
                <a:gridCol w="19637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8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18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3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45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201"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1681" name="Picture 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43788" y="2136098"/>
            <a:ext cx="1184224" cy="579240"/>
          </a:xfrm>
          <a:prstGeom prst="rect">
            <a:avLst/>
          </a:prstGeom>
          <a:noFill/>
        </p:spPr>
      </p:pic>
      <p:pic>
        <p:nvPicPr>
          <p:cNvPr id="71684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755035" y="2148096"/>
            <a:ext cx="1109271" cy="585110"/>
          </a:xfrm>
          <a:prstGeom prst="rect">
            <a:avLst/>
          </a:prstGeom>
          <a:noFill/>
        </p:spPr>
      </p:pic>
      <p:pic>
        <p:nvPicPr>
          <p:cNvPr id="71687" name="Picture 7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576340" y="2188564"/>
            <a:ext cx="1641008" cy="410252"/>
          </a:xfrm>
          <a:prstGeom prst="rect">
            <a:avLst/>
          </a:prstGeom>
          <a:noFill/>
          <a:scene3d>
            <a:camera prst="obliqueBottomRight"/>
            <a:lightRig rig="threePt" dir="t"/>
          </a:scene3d>
        </p:spPr>
      </p:pic>
      <p:pic>
        <p:nvPicPr>
          <p:cNvPr id="71690" name="Picture 10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13809" y="2990539"/>
            <a:ext cx="2284440" cy="393492"/>
          </a:xfrm>
          <a:prstGeom prst="rect">
            <a:avLst/>
          </a:prstGeom>
          <a:noFill/>
        </p:spPr>
      </p:pic>
      <p:pic>
        <p:nvPicPr>
          <p:cNvPr id="71693" name="Picture 13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609475" y="2844003"/>
            <a:ext cx="2613299" cy="6422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1000" fill="hold"/>
                                        <p:tgtEl>
                                          <p:spTgt spid="7168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1000" fill="hold"/>
                                        <p:tgtEl>
                                          <p:spTgt spid="716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1000" fill="hold"/>
                                        <p:tgtEl>
                                          <p:spTgt spid="7168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1000" fill="hold"/>
                                        <p:tgtEl>
                                          <p:spTgt spid="716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1000" fill="hold"/>
                                        <p:tgtEl>
                                          <p:spTgt spid="7169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91;p17"/>
          <p:cNvPicPr/>
          <p:nvPr/>
        </p:nvPicPr>
        <p:blipFill>
          <a:blip r:embed="rId2" cstate="print"/>
          <a:stretch/>
        </p:blipFill>
        <p:spPr>
          <a:xfrm>
            <a:off x="63720" y="996480"/>
            <a:ext cx="9143640" cy="3010680"/>
          </a:xfrm>
          <a:prstGeom prst="rect">
            <a:avLst/>
          </a:prstGeom>
          <a:ln>
            <a:noFill/>
          </a:ln>
        </p:spPr>
      </p:pic>
      <p:sp>
        <p:nvSpPr>
          <p:cNvPr id="229" name="CustomShape 2"/>
          <p:cNvSpPr/>
          <p:nvPr/>
        </p:nvSpPr>
        <p:spPr>
          <a:xfrm>
            <a:off x="885960" y="2268360"/>
            <a:ext cx="857160" cy="572400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accent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0" name="CustomShape 3"/>
          <p:cNvSpPr/>
          <p:nvPr/>
        </p:nvSpPr>
        <p:spPr>
          <a:xfrm>
            <a:off x="3163320" y="2213640"/>
            <a:ext cx="1265040" cy="715680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accent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1" name="CustomShape 4"/>
          <p:cNvSpPr/>
          <p:nvPr/>
        </p:nvSpPr>
        <p:spPr>
          <a:xfrm>
            <a:off x="8640720" y="2365920"/>
            <a:ext cx="566640" cy="411480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accent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7" name="Εικόνα 5">
            <a:extLst>
              <a:ext uri="{FF2B5EF4-FFF2-40B4-BE49-F238E27FC236}">
                <a16:creationId xmlns:a16="http://schemas.microsoft.com/office/drawing/2014/main" id="{24E61C56-6500-4355-963F-3A2EF2156E7C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1743120" y="1312020"/>
            <a:ext cx="1452960" cy="1803240"/>
          </a:xfrm>
          <a:prstGeom prst="rect">
            <a:avLst/>
          </a:prstGeom>
          <a:ln>
            <a:noFill/>
          </a:ln>
        </p:spPr>
      </p:pic>
      <p:pic>
        <p:nvPicPr>
          <p:cNvPr id="8" name="Εικόνα 7">
            <a:extLst>
              <a:ext uri="{FF2B5EF4-FFF2-40B4-BE49-F238E27FC236}">
                <a16:creationId xmlns:a16="http://schemas.microsoft.com/office/drawing/2014/main" id="{E1195977-9CCE-4FF9-9422-A036A1383CBC}"/>
              </a:ext>
            </a:extLst>
          </p:cNvPr>
          <p:cNvPicPr/>
          <p:nvPr/>
        </p:nvPicPr>
        <p:blipFill>
          <a:blip r:embed="rId4" cstate="print"/>
          <a:stretch/>
        </p:blipFill>
        <p:spPr>
          <a:xfrm>
            <a:off x="4428360" y="1336750"/>
            <a:ext cx="1484640" cy="2166120"/>
          </a:xfrm>
          <a:prstGeom prst="rect">
            <a:avLst/>
          </a:prstGeom>
          <a:ln>
            <a:noFill/>
          </a:ln>
        </p:spPr>
      </p:pic>
      <p:sp>
        <p:nvSpPr>
          <p:cNvPr id="9" name="8 - Ορθογώνιο"/>
          <p:cNvSpPr/>
          <p:nvPr/>
        </p:nvSpPr>
        <p:spPr>
          <a:xfrm>
            <a:off x="0" y="0"/>
            <a:ext cx="9144000" cy="50966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227" name="TextShape 1"/>
          <p:cNvSpPr txBox="1"/>
          <p:nvPr/>
        </p:nvSpPr>
        <p:spPr>
          <a:xfrm>
            <a:off x="281780" y="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l-GR" sz="2000" b="0" strike="noStrike" spc="-1" dirty="0">
                <a:solidFill>
                  <a:schemeClr val="bg1"/>
                </a:solidFill>
                <a:latin typeface="Proxima Nova"/>
                <a:ea typeface="Proxima Nova"/>
              </a:rPr>
              <a:t>Μελέτη μετάδοσης σε οπτική ίνα με </a:t>
            </a:r>
            <a:r>
              <a:rPr lang="el-GR" sz="2000" b="0" strike="noStrike" spc="-1" dirty="0" err="1">
                <a:solidFill>
                  <a:schemeClr val="bg1"/>
                </a:solidFill>
                <a:latin typeface="Proxima Nova"/>
                <a:ea typeface="Proxima Nova"/>
              </a:rPr>
              <a:t>Simulink</a:t>
            </a:r>
            <a:endParaRPr lang="el-GR" sz="2000" b="0" strike="noStrike" spc="-1" dirty="0">
              <a:solidFill>
                <a:schemeClr val="bg1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2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 additive="repl">
                                        <p:cTn id="1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Τίτλος 1"/>
              <p:cNvSpPr>
                <a:spLocks noGrp="1"/>
              </p:cNvSpPr>
              <p:nvPr>
                <p:ph type="title"/>
              </p:nvPr>
            </p:nvSpPr>
            <p:spPr>
              <a:xfrm>
                <a:off x="199506" y="130926"/>
                <a:ext cx="8684722" cy="629689"/>
              </a:xfrm>
            </p:spPr>
            <p:txBody>
              <a:bodyPr rtlCol="0">
                <a:normAutofit fontScale="9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l-GR" sz="1800" b="1" dirty="0">
                    <a:latin typeface="Times New Roman" pitchFamily="18" charset="0"/>
                    <a:cs typeface="Times New Roman" pitchFamily="18" charset="0"/>
                  </a:rPr>
                  <a:t>Επίδραση της διασποράς στο πλάτος ενός παλμού</a:t>
                </a:r>
                <a:b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l-GR" sz="1200" b="1" dirty="0">
                    <a:latin typeface="Times New Roman" pitchFamily="18" charset="0"/>
                    <a:cs typeface="Times New Roman" pitchFamily="18" charset="0"/>
                  </a:rPr>
                  <a:t>Παλμός με αρχικό εύρος 10</a:t>
                </a:r>
                <a:r>
                  <a:rPr lang="en-US" sz="1200" b="1" dirty="0">
                    <a:latin typeface="Times New Roman" pitchFamily="18" charset="0"/>
                    <a:cs typeface="Times New Roman" pitchFamily="18" charset="0"/>
                  </a:rPr>
                  <a:t>ps , </a:t>
                </a:r>
                <a:r>
                  <a:rPr lang="el-GR" sz="1200" b="1" dirty="0">
                    <a:latin typeface="Times New Roman" pitchFamily="18" charset="0"/>
                    <a:cs typeface="Times New Roman" pitchFamily="18" charset="0"/>
                  </a:rPr>
                  <a:t>ίνα με συντελεστή διασπόρας </a:t>
                </a:r>
                <a:r>
                  <a:rPr lang="en-US" sz="1200" b="1" dirty="0">
                    <a:latin typeface="Times New Roman" pitchFamily="18" charset="0"/>
                    <a:cs typeface="Times New Roman" pitchFamily="18" charset="0"/>
                  </a:rPr>
                  <a:t>D = 5ps/nm</a:t>
                </a:r>
                <a14:m>
                  <m:oMath xmlns:m="http://schemas.openxmlformats.org/officeDocument/2006/math">
                    <m:r>
                      <a:rPr lang="en-US" sz="1200" b="1" i="1">
                        <a:latin typeface="Cambria Math"/>
                      </a:rPr>
                      <m:t>·</m:t>
                    </m:r>
                  </m:oMath>
                </a14:m>
                <a:r>
                  <a:rPr lang="en-US" sz="1200" b="1" dirty="0">
                    <a:latin typeface="Times New Roman" pitchFamily="18" charset="0"/>
                    <a:cs typeface="Times New Roman" pitchFamily="18" charset="0"/>
                  </a:rPr>
                  <a:t>km , </a:t>
                </a:r>
                <a:r>
                  <a:rPr lang="el-GR" sz="1200" b="1" dirty="0">
                    <a:latin typeface="Times New Roman" pitchFamily="18" charset="0"/>
                    <a:cs typeface="Times New Roman" pitchFamily="18" charset="0"/>
                  </a:rPr>
                  <a:t>παράμετρο εξασθένησης α = 0,2 </a:t>
                </a:r>
                <a:r>
                  <a:rPr lang="en-US" sz="1200" b="1" dirty="0" err="1">
                    <a:latin typeface="Times New Roman" pitchFamily="18" charset="0"/>
                    <a:cs typeface="Times New Roman" pitchFamily="18" charset="0"/>
                  </a:rPr>
                  <a:t>db</a:t>
                </a:r>
                <a:r>
                  <a:rPr lang="en-US" sz="1200" b="1" dirty="0">
                    <a:latin typeface="Times New Roman" pitchFamily="18" charset="0"/>
                    <a:cs typeface="Times New Roman" pitchFamily="18" charset="0"/>
                  </a:rPr>
                  <a:t>/km, </a:t>
                </a:r>
                <a:r>
                  <a:rPr lang="el-GR" sz="1200" b="1" dirty="0">
                    <a:latin typeface="Times New Roman" pitchFamily="18" charset="0"/>
                    <a:cs typeface="Times New Roman" pitchFamily="18" charset="0"/>
                  </a:rPr>
                  <a:t>λ = 1300</a:t>
                </a:r>
                <a:r>
                  <a:rPr lang="en-US" sz="1200" b="1" dirty="0">
                    <a:latin typeface="Times New Roman" pitchFamily="18" charset="0"/>
                    <a:cs typeface="Times New Roman" pitchFamily="18" charset="0"/>
                  </a:rPr>
                  <a:t>nm</a:t>
                </a:r>
                <a:endParaRPr lang="el-GR" sz="12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Τίτλος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9506" y="130926"/>
                <a:ext cx="8684722" cy="629689"/>
              </a:xfrm>
              <a:blipFill>
                <a:blip r:embed="rId3"/>
                <a:stretch>
                  <a:fillRect l="-421" b="-105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6641" y="863744"/>
            <a:ext cx="5750719" cy="391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755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Τίτλος 1"/>
              <p:cNvSpPr>
                <a:spLocks noGrp="1"/>
              </p:cNvSpPr>
              <p:nvPr>
                <p:ph type="title"/>
              </p:nvPr>
            </p:nvSpPr>
            <p:spPr>
              <a:xfrm>
                <a:off x="255617" y="180802"/>
                <a:ext cx="8666018" cy="513988"/>
              </a:xfrm>
            </p:spPr>
            <p:txBody>
              <a:bodyPr rtlCol="0">
                <a:normAutofit fontScale="9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l-GR" sz="1650" b="1" dirty="0">
                    <a:latin typeface="Times New Roman" pitchFamily="18" charset="0"/>
                    <a:cs typeface="Times New Roman" pitchFamily="18" charset="0"/>
                  </a:rPr>
                  <a:t>Επίδραση της διασποράς στο πλάτος ενός παλμού</a:t>
                </a:r>
                <a:r>
                  <a:rPr lang="en-US" sz="165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l-GR" sz="1650" b="1" dirty="0">
                    <a:latin typeface="Times New Roman" pitchFamily="18" charset="0"/>
                    <a:cs typeface="Times New Roman" pitchFamily="18" charset="0"/>
                  </a:rPr>
                  <a:t>ανάλογα με την απόσταση διάδοσης</a:t>
                </a:r>
                <a:b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l-GR" sz="1200" b="1" dirty="0">
                    <a:latin typeface="Times New Roman" pitchFamily="18" charset="0"/>
                    <a:cs typeface="Times New Roman" pitchFamily="18" charset="0"/>
                  </a:rPr>
                  <a:t>Παλμός με αρχικό εύρος 40</a:t>
                </a:r>
                <a:r>
                  <a:rPr lang="en-US" sz="1200" b="1" dirty="0">
                    <a:latin typeface="Times New Roman" pitchFamily="18" charset="0"/>
                    <a:cs typeface="Times New Roman" pitchFamily="18" charset="0"/>
                  </a:rPr>
                  <a:t>ps , </a:t>
                </a:r>
                <a:r>
                  <a:rPr lang="el-GR" sz="1200" b="1" dirty="0">
                    <a:latin typeface="Times New Roman" pitchFamily="18" charset="0"/>
                    <a:cs typeface="Times New Roman" pitchFamily="18" charset="0"/>
                  </a:rPr>
                  <a:t>ίνα με συντελεστή διασπόρας </a:t>
                </a:r>
                <a:r>
                  <a:rPr lang="en-US" sz="1200" b="1" dirty="0">
                    <a:latin typeface="Times New Roman" pitchFamily="18" charset="0"/>
                    <a:cs typeface="Times New Roman" pitchFamily="18" charset="0"/>
                  </a:rPr>
                  <a:t>D = 5ps/nm</a:t>
                </a:r>
                <a14:m>
                  <m:oMath xmlns:m="http://schemas.openxmlformats.org/officeDocument/2006/math">
                    <m:r>
                      <a:rPr lang="en-US" sz="1200" b="1" i="1">
                        <a:latin typeface="Cambria Math"/>
                      </a:rPr>
                      <m:t>·</m:t>
                    </m:r>
                  </m:oMath>
                </a14:m>
                <a:r>
                  <a:rPr lang="en-US" sz="1200" b="1" dirty="0">
                    <a:latin typeface="Times New Roman" pitchFamily="18" charset="0"/>
                    <a:cs typeface="Times New Roman" pitchFamily="18" charset="0"/>
                  </a:rPr>
                  <a:t>km , </a:t>
                </a:r>
                <a:r>
                  <a:rPr lang="el-GR" sz="1200" b="1" dirty="0">
                    <a:latin typeface="Times New Roman" pitchFamily="18" charset="0"/>
                    <a:cs typeface="Times New Roman" pitchFamily="18" charset="0"/>
                  </a:rPr>
                  <a:t>παράμετρο εξασθένησης α = 0,2 </a:t>
                </a:r>
                <a:r>
                  <a:rPr lang="en-US" sz="1200" b="1" dirty="0" err="1">
                    <a:latin typeface="Times New Roman" pitchFamily="18" charset="0"/>
                    <a:cs typeface="Times New Roman" pitchFamily="18" charset="0"/>
                  </a:rPr>
                  <a:t>db</a:t>
                </a:r>
                <a:r>
                  <a:rPr lang="en-US" sz="1200" b="1" dirty="0">
                    <a:latin typeface="Times New Roman" pitchFamily="18" charset="0"/>
                    <a:cs typeface="Times New Roman" pitchFamily="18" charset="0"/>
                  </a:rPr>
                  <a:t>/km, </a:t>
                </a:r>
                <a:r>
                  <a:rPr lang="el-GR" sz="1200" b="1" dirty="0">
                    <a:latin typeface="Times New Roman" pitchFamily="18" charset="0"/>
                    <a:cs typeface="Times New Roman" pitchFamily="18" charset="0"/>
                  </a:rPr>
                  <a:t>λ = 1300</a:t>
                </a:r>
                <a:r>
                  <a:rPr lang="en-US" sz="1200" b="1" dirty="0">
                    <a:latin typeface="Times New Roman" pitchFamily="18" charset="0"/>
                    <a:cs typeface="Times New Roman" pitchFamily="18" charset="0"/>
                  </a:rPr>
                  <a:t>nm</a:t>
                </a:r>
                <a:endParaRPr lang="el-GR" sz="12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Τίτλος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55617" y="180802"/>
                <a:ext cx="8666018" cy="513988"/>
              </a:xfrm>
              <a:blipFill>
                <a:blip r:embed="rId3"/>
                <a:stretch>
                  <a:fillRect l="-281" t="-2381" b="-22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443" y="773473"/>
            <a:ext cx="5507831" cy="415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9166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1">
            <a:extLst>
              <a:ext uri="{FF2B5EF4-FFF2-40B4-BE49-F238E27FC236}">
                <a16:creationId xmlns:a16="http://schemas.microsoft.com/office/drawing/2014/main" id="{8E4EE746-24DC-4123-A516-9F6E0989B772}"/>
              </a:ext>
            </a:extLst>
          </p:cNvPr>
          <p:cNvSpPr txBox="1"/>
          <p:nvPr/>
        </p:nvSpPr>
        <p:spPr>
          <a:xfrm>
            <a:off x="510480" y="1257480"/>
            <a:ext cx="8122680" cy="158832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l-GR" sz="4800" spc="-1" dirty="0">
                <a:latin typeface="Proxima Nova"/>
              </a:rPr>
              <a:t>Υλοποίηση με </a:t>
            </a:r>
            <a:r>
              <a:rPr lang="en-US" sz="4800" spc="-1" dirty="0">
                <a:latin typeface="Proxima Nova"/>
              </a:rPr>
              <a:t>SIMULINK</a:t>
            </a:r>
            <a:r>
              <a:rPr lang="el-GR" sz="4800" spc="-1" dirty="0">
                <a:latin typeface="Proxima Nova"/>
              </a:rPr>
              <a:t> – ερώτημα 2</a:t>
            </a:r>
            <a:endParaRPr lang="el-GR" sz="4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568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Τίτλος 1"/>
              <p:cNvSpPr>
                <a:spLocks noGrp="1"/>
              </p:cNvSpPr>
              <p:nvPr>
                <p:ph type="title"/>
              </p:nvPr>
            </p:nvSpPr>
            <p:spPr>
              <a:xfrm>
                <a:off x="205740" y="130926"/>
                <a:ext cx="8684722" cy="629689"/>
              </a:xfrm>
            </p:spPr>
            <p:txBody>
              <a:bodyPr rtlCol="0">
                <a:normAutofit fontScale="900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l-GR" sz="1650" b="1" dirty="0">
                    <a:latin typeface="Times New Roman" pitchFamily="18" charset="0"/>
                    <a:cs typeface="Times New Roman" pitchFamily="18" charset="0"/>
                  </a:rPr>
                  <a:t>Επαλήθευση μέγιστης απόστασης μετάδοσης μέσω </a:t>
                </a:r>
                <a:r>
                  <a:rPr lang="en-US" sz="1650" b="1" dirty="0" err="1">
                    <a:latin typeface="Times New Roman" pitchFamily="18" charset="0"/>
                    <a:cs typeface="Times New Roman" pitchFamily="18" charset="0"/>
                  </a:rPr>
                  <a:t>simulink</a:t>
                </a:r>
                <a:b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l-GR" sz="1500" b="1" dirty="0">
                    <a:latin typeface="Times New Roman" pitchFamily="18" charset="0"/>
                    <a:cs typeface="Times New Roman" pitchFamily="18" charset="0"/>
                  </a:rPr>
                  <a:t>Υλοποιήσεις 1 έως 3 </a:t>
                </a:r>
                <a:r>
                  <a:rPr lang="el-GR" sz="1500" b="1" dirty="0">
                    <a:latin typeface="Times New Roman" pitchFamily="18" charset="0"/>
                    <a:cs typeface="Times New Roman" pitchFamily="18" charset="0"/>
                    <a:sym typeface="Wingdings" pitchFamily="2" charset="2"/>
                  </a:rPr>
                  <a:t> Αύξηση πλάτους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l-GR" sz="15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l-GR" sz="1500" b="1" i="1">
                            <a:latin typeface="Cambria Math"/>
                          </a:rPr>
                          <m:t>𝟐</m:t>
                        </m:r>
                      </m:e>
                    </m:rad>
                    <m:r>
                      <a:rPr lang="el-GR" sz="1500" b="1" i="1">
                        <a:latin typeface="Cambria Math"/>
                      </a:rPr>
                      <m:t> </m:t>
                    </m:r>
                  </m:oMath>
                </a14:m>
                <a:r>
                  <a:rPr lang="el-GR" sz="1500" b="1" dirty="0">
                    <a:latin typeface="Times New Roman" pitchFamily="18" charset="0"/>
                    <a:cs typeface="Times New Roman" pitchFamily="18" charset="0"/>
                    <a:sym typeface="Wingdings" pitchFamily="2" charset="2"/>
                  </a:rPr>
                  <a:t>φορές &amp; Μείωση ύψους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l-GR" sz="15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l-GR" sz="1500" b="1" i="1">
                            <a:latin typeface="Cambria Math"/>
                          </a:rPr>
                          <m:t>𝟐</m:t>
                        </m:r>
                      </m:e>
                    </m:rad>
                    <m:r>
                      <a:rPr lang="el-GR" sz="1500" b="1" i="1">
                        <a:latin typeface="Cambria Math"/>
                      </a:rPr>
                      <m:t> </m:t>
                    </m:r>
                  </m:oMath>
                </a14:m>
                <a:r>
                  <a:rPr lang="el-GR" sz="1500" b="1" dirty="0">
                    <a:latin typeface="Times New Roman" pitchFamily="18" charset="0"/>
                    <a:cs typeface="Times New Roman" pitchFamily="18" charset="0"/>
                    <a:sym typeface="Wingdings" pitchFamily="2" charset="2"/>
                  </a:rPr>
                  <a:t>φορές </a:t>
                </a:r>
                <a:endParaRPr lang="el-GR" sz="15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Τίτλος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05740" y="130926"/>
                <a:ext cx="8684722" cy="629689"/>
              </a:xfrm>
              <a:blipFill>
                <a:blip r:embed="rId3"/>
                <a:stretch>
                  <a:fillRect l="-281" b="-18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D:\ΜΕΤΑΠΤΥΧΙΑΚΟ\ΠΡΟΧ. ΘΕΜ. ΟΠΤΙΚΗΣ ΜΕΤΑΓΩΓΗΣ\2020\~paradotea paroysiash\simulink\--alex 3a-c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212" y="815167"/>
            <a:ext cx="6591950" cy="3848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85" y="1295703"/>
            <a:ext cx="208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7885" y="2024049"/>
            <a:ext cx="2089200" cy="487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5587" y="1295704"/>
            <a:ext cx="2314575" cy="965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1" name="Straight Arrow Connector 10"/>
          <p:cNvCxnSpPr/>
          <p:nvPr/>
        </p:nvCxnSpPr>
        <p:spPr>
          <a:xfrm>
            <a:off x="3653444" y="1752904"/>
            <a:ext cx="930743" cy="514721"/>
          </a:xfrm>
          <a:prstGeom prst="straightConnector1">
            <a:avLst/>
          </a:prstGeom>
          <a:ln>
            <a:solidFill>
              <a:srgbClr val="F1D397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3697086" y="2381597"/>
            <a:ext cx="554875" cy="3054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5218315" y="1839191"/>
            <a:ext cx="347272" cy="62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86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Τίτλος 1"/>
              <p:cNvSpPr>
                <a:spLocks noGrp="1"/>
              </p:cNvSpPr>
              <p:nvPr>
                <p:ph type="title"/>
              </p:nvPr>
            </p:nvSpPr>
            <p:spPr>
              <a:xfrm>
                <a:off x="205740" y="112222"/>
                <a:ext cx="8684722" cy="467591"/>
              </a:xfrm>
            </p:spPr>
            <p:txBody>
              <a:bodyPr rtlCol="0">
                <a:normAutofit fontScale="90000"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l-GR" sz="1650" b="1" dirty="0">
                    <a:latin typeface="Times New Roman" pitchFamily="18" charset="0"/>
                    <a:cs typeface="Times New Roman" pitchFamily="18" charset="0"/>
                  </a:rPr>
                  <a:t>Επαλήθευση μέγιστης απόστασης μετάδοσης μέσω </a:t>
                </a:r>
                <a:r>
                  <a:rPr lang="en-US" sz="1650" b="1" dirty="0" err="1">
                    <a:latin typeface="Times New Roman" pitchFamily="18" charset="0"/>
                    <a:cs typeface="Times New Roman" pitchFamily="18" charset="0"/>
                  </a:rPr>
                  <a:t>simulink</a:t>
                </a:r>
                <a:br>
                  <a:rPr lang="en-US" sz="1800" b="1" dirty="0">
                    <a:latin typeface="Times New Roman" pitchFamily="18" charset="0"/>
                    <a:cs typeface="Times New Roman" pitchFamily="18" charset="0"/>
                  </a:rPr>
                </a:br>
                <a:r>
                  <a:rPr lang="el-GR" sz="1500" b="1" dirty="0">
                    <a:latin typeface="Times New Roman" pitchFamily="18" charset="0"/>
                    <a:cs typeface="Times New Roman" pitchFamily="18" charset="0"/>
                  </a:rPr>
                  <a:t>4</a:t>
                </a:r>
                <a:r>
                  <a:rPr lang="el-GR" sz="1500" b="1" baseline="30000" dirty="0">
                    <a:latin typeface="Times New Roman" pitchFamily="18" charset="0"/>
                    <a:cs typeface="Times New Roman" pitchFamily="18" charset="0"/>
                  </a:rPr>
                  <a:t>η</a:t>
                </a:r>
                <a:r>
                  <a:rPr lang="el-GR" sz="1500" b="1" dirty="0">
                    <a:latin typeface="Times New Roman" pitchFamily="18" charset="0"/>
                    <a:cs typeface="Times New Roman" pitchFamily="18" charset="0"/>
                  </a:rPr>
                  <a:t> υλοποίηση</a:t>
                </a:r>
                <a:r>
                  <a:rPr lang="en-US" sz="1500" b="1" dirty="0">
                    <a:latin typeface="Times New Roman" pitchFamily="18" charset="0"/>
                    <a:cs typeface="Times New Roman" pitchFamily="18" charset="0"/>
                  </a:rPr>
                  <a:t>: PAM 4 modulation</a:t>
                </a:r>
                <a:r>
                  <a:rPr lang="el-GR" sz="1500" b="1" dirty="0"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el-GR" sz="1500" b="1" dirty="0">
                    <a:latin typeface="Times New Roman" pitchFamily="18" charset="0"/>
                    <a:cs typeface="Times New Roman" pitchFamily="18" charset="0"/>
                    <a:sym typeface="Wingdings" pitchFamily="2" charset="2"/>
                  </a:rPr>
                  <a:t> Αύξηση πλάτους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l-GR" sz="15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l-GR" sz="1500" b="1" i="1">
                            <a:latin typeface="Cambria Math"/>
                          </a:rPr>
                          <m:t>𝟐</m:t>
                        </m:r>
                      </m:e>
                    </m:rad>
                    <m:r>
                      <a:rPr lang="el-GR" sz="1500" b="1" i="1">
                        <a:latin typeface="Cambria Math"/>
                      </a:rPr>
                      <m:t> </m:t>
                    </m:r>
                  </m:oMath>
                </a14:m>
                <a:r>
                  <a:rPr lang="el-GR" sz="1500" b="1" dirty="0">
                    <a:latin typeface="Times New Roman" pitchFamily="18" charset="0"/>
                    <a:cs typeface="Times New Roman" pitchFamily="18" charset="0"/>
                    <a:sym typeface="Wingdings" pitchFamily="2" charset="2"/>
                  </a:rPr>
                  <a:t>φορές &amp; Μείωση ύψους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l-GR" sz="15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l-GR" sz="1500" b="1" i="1">
                            <a:latin typeface="Cambria Math"/>
                          </a:rPr>
                          <m:t>𝟐</m:t>
                        </m:r>
                      </m:e>
                    </m:rad>
                    <m:r>
                      <a:rPr lang="el-GR" sz="1500" b="1" i="1">
                        <a:latin typeface="Cambria Math"/>
                      </a:rPr>
                      <m:t> </m:t>
                    </m:r>
                  </m:oMath>
                </a14:m>
                <a:r>
                  <a:rPr lang="el-GR" sz="1500" b="1" dirty="0">
                    <a:latin typeface="Times New Roman" pitchFamily="18" charset="0"/>
                    <a:cs typeface="Times New Roman" pitchFamily="18" charset="0"/>
                    <a:sym typeface="Wingdings" pitchFamily="2" charset="2"/>
                  </a:rPr>
                  <a:t>φορές </a:t>
                </a:r>
                <a:endParaRPr lang="el-GR" sz="15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2" name="Τίτλος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05740" y="112222"/>
                <a:ext cx="8684722" cy="467591"/>
              </a:xfrm>
              <a:blipFill>
                <a:blip r:embed="rId3"/>
                <a:stretch>
                  <a:fillRect l="-281" t="-11688" b="-23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4" name="Picture 4" descr="D:\ΜΕΤΑΠΤΥΧΙΑΚΟ\ΠΡΟΧ. ΘΕΜ. ΟΠΤΙΚΗΣ ΜΕΤΑΓΩΓΗΣ\2020\~paradotea paroysiash\simulink\--alex pam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046" y="585831"/>
            <a:ext cx="5882150" cy="4230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187" y="966139"/>
            <a:ext cx="2314575" cy="9655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3815542" y="741695"/>
            <a:ext cx="1359131" cy="22444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131030" y="853917"/>
            <a:ext cx="15524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05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Παλμός στην είσοδο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0730" y="2037724"/>
            <a:ext cx="48863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35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(10)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53196" y="3904603"/>
            <a:ext cx="47320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135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(00)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31030" y="2896384"/>
            <a:ext cx="473206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135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(01)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58779" y="880201"/>
            <a:ext cx="46365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135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(11)</a:t>
            </a:r>
          </a:p>
        </p:txBody>
      </p:sp>
    </p:spTree>
    <p:extLst>
      <p:ext uri="{BB962C8B-B14F-4D97-AF65-F5344CB8AC3E}">
        <p14:creationId xmlns:p14="http://schemas.microsoft.com/office/powerpoint/2010/main" val="2720180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457200" y="155864"/>
            <a:ext cx="8229600" cy="513988"/>
          </a:xfrm>
        </p:spPr>
        <p:txBody>
          <a:bodyPr rtlCol="0"/>
          <a:lstStyle/>
          <a:p>
            <a:r>
              <a:rPr lang="el-GR" sz="1800" b="1" dirty="0">
                <a:latin typeface="Times New Roman" pitchFamily="18" charset="0"/>
                <a:cs typeface="Times New Roman" pitchFamily="18" charset="0"/>
              </a:rPr>
              <a:t>Βέλτιστη υλοποίηση ενός πομπού με ρυθμό μετάδοσης 200 Gb/s στα 1300 nm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252" y="950535"/>
            <a:ext cx="3237980" cy="3021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382886" y="950535"/>
            <a:ext cx="4650971" cy="2331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13" indent="-214313">
              <a:buFont typeface="Arial" pitchFamily="34" charset="0"/>
              <a:buChar char="•"/>
            </a:pPr>
            <a:r>
              <a:rPr lang="el-GR" sz="1350" dirty="0">
                <a:latin typeface="Times New Roman" pitchFamily="18" charset="0"/>
                <a:cs typeface="Times New Roman" pitchFamily="18" charset="0"/>
              </a:rPr>
              <a:t>Η χρήση 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PAM4 modulation </a:t>
            </a:r>
            <a:r>
              <a:rPr lang="el-GR" sz="1350" dirty="0">
                <a:latin typeface="Times New Roman" pitchFamily="18" charset="0"/>
                <a:cs typeface="Times New Roman" pitchFamily="18" charset="0"/>
              </a:rPr>
              <a:t>στην 4</a:t>
            </a:r>
            <a:r>
              <a:rPr lang="el-GR" sz="1350" baseline="30000" dirty="0">
                <a:latin typeface="Times New Roman" pitchFamily="18" charset="0"/>
                <a:cs typeface="Times New Roman" pitchFamily="18" charset="0"/>
              </a:rPr>
              <a:t>η</a:t>
            </a:r>
            <a:r>
              <a:rPr lang="el-GR" sz="1350" dirty="0">
                <a:latin typeface="Times New Roman" pitchFamily="18" charset="0"/>
                <a:cs typeface="Times New Roman" pitchFamily="18" charset="0"/>
              </a:rPr>
              <a:t> υλοποίηση επιτρέπει την μετάδοση 2 συμβόλων 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/ second</a:t>
            </a:r>
            <a:r>
              <a:rPr lang="el-GR" sz="135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04813" indent="-136922">
              <a:buFont typeface="Wingdings" pitchFamily="2" charset="2"/>
              <a:buChar char="Ø"/>
            </a:pPr>
            <a:r>
              <a:rPr lang="el-GR" sz="1200" dirty="0">
                <a:latin typeface="Times New Roman" pitchFamily="18" charset="0"/>
                <a:cs typeface="Times New Roman" pitchFamily="18" charset="0"/>
              </a:rPr>
              <a:t>Επομένως χρειάζονται 2 κανάλια μόνο για επιτευχθεί ρυθμός μετάδοσης 200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Gb/s</a:t>
            </a:r>
            <a:r>
              <a:rPr lang="el-GR" sz="12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14313" indent="-214313">
              <a:buFont typeface="Arial" pitchFamily="34" charset="0"/>
              <a:buChar char="•"/>
            </a:pPr>
            <a:r>
              <a:rPr lang="el-GR" sz="1350" dirty="0">
                <a:latin typeface="Times New Roman" pitchFamily="18" charset="0"/>
                <a:cs typeface="Times New Roman" pitchFamily="18" charset="0"/>
              </a:rPr>
              <a:t>Η μέγιστη απόσταση μετάδοσης (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31,91</a:t>
            </a:r>
            <a:r>
              <a:rPr lang="el-GR" sz="13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km)</a:t>
            </a:r>
            <a:r>
              <a:rPr lang="el-GR" sz="1350" dirty="0">
                <a:latin typeface="Times New Roman" pitchFamily="18" charset="0"/>
                <a:cs typeface="Times New Roman" pitchFamily="18" charset="0"/>
              </a:rPr>
              <a:t> προτού εμφανιστούν λάθη εξαιτίας της διασυμβολικής παρεμβολής</a:t>
            </a:r>
            <a:r>
              <a:rPr lang="en-US" sz="13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l-GR" sz="1350" dirty="0">
                <a:latin typeface="Times New Roman" pitchFamily="18" charset="0"/>
                <a:cs typeface="Times New Roman" pitchFamily="18" charset="0"/>
              </a:rPr>
              <a:t>επιτυγχάνεται με την 4</a:t>
            </a:r>
            <a:r>
              <a:rPr lang="el-GR" sz="1350" baseline="30000" dirty="0">
                <a:latin typeface="Times New Roman" pitchFamily="18" charset="0"/>
                <a:cs typeface="Times New Roman" pitchFamily="18" charset="0"/>
              </a:rPr>
              <a:t>η</a:t>
            </a:r>
            <a:r>
              <a:rPr lang="el-GR" sz="1350" dirty="0">
                <a:latin typeface="Times New Roman" pitchFamily="18" charset="0"/>
                <a:cs typeface="Times New Roman" pitchFamily="18" charset="0"/>
              </a:rPr>
              <a:t> υλοποίηση.</a:t>
            </a:r>
          </a:p>
          <a:p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14313" indent="-214313">
              <a:buFont typeface="Arial" pitchFamily="34" charset="0"/>
              <a:buChar char="•"/>
            </a:pPr>
            <a:r>
              <a:rPr lang="el-GR" sz="1350" b="1" dirty="0">
                <a:latin typeface="Times New Roman" pitchFamily="18" charset="0"/>
                <a:cs typeface="Times New Roman" pitchFamily="18" charset="0"/>
              </a:rPr>
              <a:t>Βέλτιση υλοποίηση: 4</a:t>
            </a:r>
            <a:r>
              <a:rPr lang="el-GR" sz="1350" b="1" baseline="30000" dirty="0">
                <a:latin typeface="Times New Roman" pitchFamily="18" charset="0"/>
                <a:cs typeface="Times New Roman" pitchFamily="18" charset="0"/>
              </a:rPr>
              <a:t>η</a:t>
            </a:r>
            <a:r>
              <a:rPr lang="el-GR" sz="1350" b="1" dirty="0">
                <a:latin typeface="Times New Roman" pitchFamily="18" charset="0"/>
                <a:cs typeface="Times New Roman" pitchFamily="18" charset="0"/>
              </a:rPr>
              <a:t> υλοποίηση</a:t>
            </a:r>
          </a:p>
          <a:p>
            <a:endParaRPr lang="el-GR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E242CD-361E-450A-B6BB-FABD94FDA540}"/>
              </a:ext>
            </a:extLst>
          </p:cNvPr>
          <p:cNvSpPr/>
          <p:nvPr/>
        </p:nvSpPr>
        <p:spPr>
          <a:xfrm>
            <a:off x="1946787" y="3258860"/>
            <a:ext cx="1993445" cy="4313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 err="1"/>
          </a:p>
        </p:txBody>
      </p:sp>
    </p:spTree>
    <p:extLst>
      <p:ext uri="{BB962C8B-B14F-4D97-AF65-F5344CB8AC3E}">
        <p14:creationId xmlns:p14="http://schemas.microsoft.com/office/powerpoint/2010/main" val="72570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Δικαιοσύνη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Αστικό">
  <a:themeElements>
    <a:clrScheme name="Αστικό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Αστικό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Αστικό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Αστικό">
  <a:themeElements>
    <a:clrScheme name="Αστικό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Αστικό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Αστικό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Αστικό">
  <a:themeElements>
    <a:clrScheme name="Αστικό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Αστικό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Δημοτικός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1930</TotalTime>
  <Words>404</Words>
  <Application>Microsoft Office PowerPoint</Application>
  <PresentationFormat>On-screen Show (16:9)</PresentationFormat>
  <Paragraphs>51</Paragraphs>
  <Slides>18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Arial</vt:lpstr>
      <vt:lpstr>Cambria Math</vt:lpstr>
      <vt:lpstr>Georgia</vt:lpstr>
      <vt:lpstr>Proxima Nova</vt:lpstr>
      <vt:lpstr>Symbol</vt:lpstr>
      <vt:lpstr>Times New Roman</vt:lpstr>
      <vt:lpstr>Trebuchet MS</vt:lpstr>
      <vt:lpstr>Wingdings</vt:lpstr>
      <vt:lpstr>Wingdings 2</vt:lpstr>
      <vt:lpstr>Office Theme</vt:lpstr>
      <vt:lpstr>Αστικό</vt:lpstr>
      <vt:lpstr>1_Αστικό</vt:lpstr>
      <vt:lpstr>2_Αστικό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Επίδραση της διασποράς στο πλάτος ενός παλμού Παλμός με αρχικό εύρος 10ps , ίνα με συντελεστή διασπόρας D = 5ps/nm·km , παράμετρο εξασθένησης α = 0,2 db/km, λ = 1300nm</vt:lpstr>
      <vt:lpstr>Επίδραση της διασποράς στο πλάτος ενός παλμού ανάλογα με την απόσταση διάδοσης Παλμός με αρχικό εύρος 40ps , ίνα με συντελεστή διασπόρας D = 5ps/nm·km , παράμετρο εξασθένησης α = 0,2 db/km, λ = 1300nm</vt:lpstr>
      <vt:lpstr>PowerPoint Presentation</vt:lpstr>
      <vt:lpstr>Επαλήθευση μέγιστης απόστασης μετάδοσης μέσω simulink Υλοποιήσεις 1 έως 3  Αύξηση πλάτους √2  φορές &amp; Μείωση ύψους √2  φορές </vt:lpstr>
      <vt:lpstr>Επαλήθευση μέγιστης απόστασης μετάδοσης μέσω simulink 4η υλοποίηση: PAM 4 modulation  Αύξηση πλάτους √2  φορές &amp; Μείωση ύψους √2  φορές </vt:lpstr>
      <vt:lpstr>Βέλτιστη υλοποίηση ενός πομπού με ρυθμό μετάδοσης 200 Gb/s στα 1300 nm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400G Transceivers</dc:title>
  <dc:creator>M K</dc:creator>
  <cp:lastModifiedBy>Nikolaos Pleros</cp:lastModifiedBy>
  <cp:revision>254</cp:revision>
  <dcterms:modified xsi:type="dcterms:W3CDTF">2026-03-26T18:22:55Z</dcterms:modified>
  <dc:language>el-GR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1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15</vt:i4>
  </property>
  <property fmtid="{D5CDD505-2E9C-101B-9397-08002B2CF9AE}" pid="8" name="PresentationFormat">
    <vt:lpwstr>Προβολή στην οθόνη (16:9)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26</vt:i4>
  </property>
</Properties>
</file>